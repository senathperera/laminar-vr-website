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64" r:id="rId3"/>
    <p:sldId id="260" r:id="rId4"/>
    <p:sldId id="259" r:id="rId5"/>
    <p:sldId id="263" r:id="rId6"/>
    <p:sldId id="261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C6CCB-309C-4290-B0EA-4829E287C7C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06072-2A5F-4BD9-B94C-EE2BEC176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5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4A1A-CFAB-2AD1-8913-33191B948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FF29F-6277-4165-2BC2-FAB6AA27A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47DAD-CE83-AACA-8F02-45EA4B96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1F5-ECC8-4AAE-A631-73E585A771A1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EFE91-E611-B5FF-A378-A39DB3AE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56430-327D-2347-6534-37982954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8908-8372-B78A-93DD-7D49268C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0D7F5-7DA3-51EE-9B3E-8F82B046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07B2D-CC34-0ED7-519C-03403FC3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6AB1D-EF70-4561-99AA-00242CD95006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CC59B-8E67-744F-E882-998D4B8E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C708D-8598-39E8-4C85-EFFD6C7D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1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F340-4B37-71CC-E710-6EE08159B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3F59B-BE42-ACAE-2CE6-9D61EBF25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0824F-6904-E467-48B3-298C4848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D3F9-ED4A-45C8-80C2-7AF43CEF0040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81C60-7F43-0F9E-3864-85D3CF64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FEF47-FD14-7C2F-F503-D94BD9CA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4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EF5F-CDBB-0EE0-EC8B-C4F49BF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4F6E-C894-D78C-A68E-94E481E88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387A1-6A12-7B3C-9381-E18319824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C3C2-6BC4-0724-D8DA-739969DD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1C88A-E22C-4893-99DE-E63D12A68EFB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9DE27-DAC4-FAF1-D454-39D7F1F5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701A9-2A21-37BF-FF62-92F3487A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8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6866-A392-6FCE-5782-635ED025E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4223C-5481-9A98-5FF1-B68534B5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048BE-1A8F-87DF-216B-DF8B1174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3538B-0A33-FB32-B7E7-AB1A4491D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B41AD-BB18-838B-8F61-6720DE08D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BE0D8-3ECF-C4AB-7B54-CFFF00BF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ACCA-B0E0-479C-82FD-5F069374D636}" type="datetime1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57834-3FA0-B83D-02A9-982EA0AD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4035D-E70B-28CE-48A0-B672471A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4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23EC-7BBE-5B1B-0697-2E094F9C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BC4F7E-BA58-396C-D3B2-53CCF5AA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AE406-700D-482C-9CD7-43BC733557BA}" type="datetime1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4D858-54AF-2B86-5904-7915002F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3E732-B772-F508-816E-DB66CEDC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5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F67AB-38E7-A87D-7A49-DEE61235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8E4BD-4912-2359-7E45-BD7F0A07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E3AE4-3115-2A97-8BAA-790C68E6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6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F6E5-2EB2-A356-9A9F-46182938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2D095-814F-3707-C6ED-350204C65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86EFA-1CA2-F0C4-2B94-8F042F578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237B0-7322-743A-9E91-E9C8525A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A71F-BF7A-4BA3-BB1C-677AE85C95E8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AB6A6-DC86-7DC2-2C53-4B7A89797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C2BFC-6144-5641-2512-565A21A6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0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5400-0B04-66ED-7C90-7D8E3FFC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2DD22-B6C0-D261-5958-E1469BEBD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193C1-77D1-9A22-3606-86D6A04DA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139BA-5B1A-46CC-2108-8FB441DE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CF43-7E00-47C7-BC6B-5D89E94E853F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D4A1E-1E0B-6B6C-A758-A6B6A95E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1E437-0EBA-F85E-C72B-B672D87A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8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D682-5767-7B8B-449A-40F03DF8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727EF-E654-13AF-F05F-9AE741908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23ABA-B280-D0B7-181A-D5F88A67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33CF-D08B-4CA8-AC28-A7C1B07B1C6B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7583-74D3-286E-C49A-FB2526A4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9293-852D-68B8-1B30-74CF4918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3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5C74C-F2A7-B232-7B77-8A0919290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F5CCE-3D80-F515-79E0-B4D2EE277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FA8EA-B4A7-7431-048F-2929E366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3079-B2EF-4949-8B89-2E688923DD0C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FB818-C30F-31DA-DDA3-9FC321E1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2F04-CBB1-4EED-B38A-1203D3F4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24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76BA3-96F8-F92B-C815-1902FF21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72704-74E4-42D7-EB5F-3CA14EC8D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B847B-6300-C328-DEB5-050E4AACA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0072" y="6359814"/>
            <a:ext cx="1073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1FA0C-0B46-49B5-89A5-75EF8B6ADAD9}" type="datetime1">
              <a:rPr lang="en-US" smtClean="0"/>
              <a:t>10/11/2026</a:t>
            </a:fld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766B6-E524-DE46-2A2F-DF3CBB5C2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R26-DS-006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FC655-9E25-A267-9047-258FF9A8C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0109" y="6376987"/>
            <a:ext cx="4087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13BDB-8EED-4BF4-A7D7-62993DC78721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E3E993-77A4-F360-A3DE-3CE30D21137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900"/>
            <a:ext cx="2591162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E2A8-0648-AE88-1659-23FF44F0F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 b="1" dirty="0"/>
              <a:t>AI-Based VR Meditation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AD74F-71C9-B3CF-2412-284F21D3F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Sri Lanka Institute of Information Technology</a:t>
            </a:r>
          </a:p>
          <a:p>
            <a:r>
              <a:rPr lang="en-US"/>
              <a:t>Group R26-DS-006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E29CF-4CC7-5D8A-6242-B6F33F14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0072" y="6359814"/>
            <a:ext cx="1073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9E6A1F5-ECC8-4AAE-A631-73E585A771A1}" type="datetime1">
              <a:rPr lang="en-US" sz="1400" smtClean="0"/>
              <a:pPr>
                <a:lnSpc>
                  <a:spcPct val="90000"/>
                </a:lnSpc>
                <a:spcAft>
                  <a:spcPts val="600"/>
                </a:spcAft>
              </a:pPr>
              <a:t>10/11/2026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30AD7-17B5-41E2-04A2-33329522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/>
              <a:t>R26-DS-006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929F1-4B4A-4860-3A64-462E7B71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109" y="6376987"/>
            <a:ext cx="4087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F13BDB-8EED-4BF4-A7D7-62993DC78721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55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9E1722-5675-BAB6-EC10-01876807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2FF12-9B40-8ACB-DADF-FB8D0526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B9BE8-F755-3777-A39C-E762DA29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71FFE-0DC0-9325-47EA-EE2BF5B6D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491" y="871085"/>
            <a:ext cx="2865286" cy="3498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F90B5A-8FE0-3AC0-F1DA-BFB25C978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8" y="911506"/>
            <a:ext cx="3149709" cy="3338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644540-E377-5874-149D-1BAFC70EA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392" y="824118"/>
            <a:ext cx="2527184" cy="3192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ADDBD-6969-10F3-0AAA-EE99AD1618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485" y="824118"/>
            <a:ext cx="3056515" cy="36587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CDA7BC-E52A-F1C6-6AEF-C7B303861D41}"/>
              </a:ext>
            </a:extLst>
          </p:cNvPr>
          <p:cNvSpPr txBox="1"/>
          <p:nvPr/>
        </p:nvSpPr>
        <p:spPr>
          <a:xfrm>
            <a:off x="4695476" y="326731"/>
            <a:ext cx="32179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</a:t>
            </a:r>
            <a:endParaRPr lang="en-US" sz="32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3C210D92-42C5-B58C-E73F-15D09401CD37}"/>
              </a:ext>
            </a:extLst>
          </p:cNvPr>
          <p:cNvSpPr/>
          <p:nvPr/>
        </p:nvSpPr>
        <p:spPr>
          <a:xfrm>
            <a:off x="394750" y="4249881"/>
            <a:ext cx="2573518" cy="1806789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r>
              <a:rPr lang="en-US" b="1" dirty="0"/>
              <a:t>Perera W.T.S.R</a:t>
            </a:r>
          </a:p>
          <a:p>
            <a:r>
              <a:rPr lang="en-US" b="1" dirty="0"/>
              <a:t>IT22231314</a:t>
            </a:r>
          </a:p>
          <a:p>
            <a:endParaRPr lang="en-US" dirty="0"/>
          </a:p>
          <a:p>
            <a:r>
              <a:rPr lang="en-US" i="1" dirty="0"/>
              <a:t>Preference-Aware Adaptive VR Relaxation Engine</a:t>
            </a:r>
          </a:p>
          <a:p>
            <a:endParaRPr lang="en-US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9D350804-4A4F-2E52-031F-72A90411C9F5}"/>
              </a:ext>
            </a:extLst>
          </p:cNvPr>
          <p:cNvSpPr/>
          <p:nvPr/>
        </p:nvSpPr>
        <p:spPr>
          <a:xfrm>
            <a:off x="6403577" y="4198109"/>
            <a:ext cx="2588740" cy="1806789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r>
              <a:rPr lang="en-US" b="1" dirty="0" err="1"/>
              <a:t>Samarasekara</a:t>
            </a:r>
            <a:r>
              <a:rPr lang="en-US" b="1" dirty="0"/>
              <a:t> K.S.M</a:t>
            </a:r>
          </a:p>
          <a:p>
            <a:r>
              <a:rPr lang="en-US" b="1" dirty="0"/>
              <a:t>IT22172396</a:t>
            </a:r>
          </a:p>
          <a:p>
            <a:endParaRPr lang="en-US" dirty="0"/>
          </a:p>
          <a:p>
            <a:r>
              <a:rPr lang="en-US" i="1" dirty="0"/>
              <a:t>Preference-Aware Adaptive VR Relaxation Engine</a:t>
            </a:r>
          </a:p>
          <a:p>
            <a:endParaRPr lang="en-US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F4BF3E25-4F6C-E075-954F-D3C14722FD98}"/>
              </a:ext>
            </a:extLst>
          </p:cNvPr>
          <p:cNvSpPr/>
          <p:nvPr/>
        </p:nvSpPr>
        <p:spPr>
          <a:xfrm>
            <a:off x="315555" y="4237438"/>
            <a:ext cx="2731908" cy="2002941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r>
              <a:rPr lang="en-US" b="1" dirty="0"/>
              <a:t>Perera W.T.S.R</a:t>
            </a:r>
          </a:p>
          <a:p>
            <a:r>
              <a:rPr lang="en-US" b="1" dirty="0"/>
              <a:t>IT22231314</a:t>
            </a:r>
          </a:p>
          <a:p>
            <a:endParaRPr lang="en-US" dirty="0"/>
          </a:p>
          <a:p>
            <a:r>
              <a:rPr lang="en-US" i="1" dirty="0"/>
              <a:t>Preference-Aware Adaptive VR Relaxation Engine</a:t>
            </a:r>
          </a:p>
          <a:p>
            <a:endParaRPr lang="en-US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765BB1F6-9420-DD72-B3D2-23F5A64DEB14}"/>
              </a:ext>
            </a:extLst>
          </p:cNvPr>
          <p:cNvSpPr/>
          <p:nvPr/>
        </p:nvSpPr>
        <p:spPr>
          <a:xfrm>
            <a:off x="9316924" y="4198108"/>
            <a:ext cx="2588740" cy="1806789"/>
          </a:xfrm>
          <a:prstGeom prst="roundRect">
            <a:avLst>
              <a:gd name="adj" fmla="val 9000"/>
            </a:avLst>
          </a:prstGeom>
          <a:solidFill>
            <a:schemeClr val="accent3">
              <a:lumMod val="75000"/>
            </a:schemeClr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S. </a:t>
            </a:r>
            <a:r>
              <a:rPr lang="en-US" b="1" dirty="0" err="1">
                <a:solidFill>
                  <a:schemeClr val="bg2"/>
                </a:solidFill>
              </a:rPr>
              <a:t>Prathikesh</a:t>
            </a:r>
            <a:r>
              <a:rPr lang="en-US" b="1" dirty="0">
                <a:solidFill>
                  <a:schemeClr val="bg2"/>
                </a:solidFill>
              </a:rPr>
              <a:t> </a:t>
            </a:r>
          </a:p>
          <a:p>
            <a:r>
              <a:rPr lang="en-US" b="1" dirty="0">
                <a:solidFill>
                  <a:schemeClr val="bg2"/>
                </a:solidFill>
              </a:rPr>
              <a:t>IT22621788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i="1" dirty="0">
                <a:solidFill>
                  <a:schemeClr val="bg2"/>
                </a:solidFill>
              </a:rPr>
              <a:t>Preference-Aware Adaptive VR Relaxation Engine</a:t>
            </a:r>
          </a:p>
          <a:p>
            <a:endParaRPr lang="en-US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8B03E8E6-55A4-3B8D-9C49-DB6C85F9148E}"/>
              </a:ext>
            </a:extLst>
          </p:cNvPr>
          <p:cNvSpPr/>
          <p:nvPr/>
        </p:nvSpPr>
        <p:spPr>
          <a:xfrm>
            <a:off x="3372070" y="4220119"/>
            <a:ext cx="2696837" cy="2118912"/>
          </a:xfrm>
          <a:prstGeom prst="roundRect">
            <a:avLst>
              <a:gd name="adj" fmla="val 9000"/>
            </a:avLst>
          </a:prstGeom>
          <a:solidFill>
            <a:schemeClr val="accent3">
              <a:lumMod val="75000"/>
            </a:schemeClr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Perera B.D.P.D.</a:t>
            </a:r>
          </a:p>
          <a:p>
            <a:r>
              <a:rPr lang="en-US" b="1" dirty="0">
                <a:solidFill>
                  <a:schemeClr val="bg2"/>
                </a:solidFill>
              </a:rPr>
              <a:t>IT22191038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i="1" dirty="0" err="1">
                <a:solidFill>
                  <a:schemeClr val="bg2"/>
                </a:solidFill>
              </a:rPr>
              <a:t>Cosinor</a:t>
            </a:r>
            <a:r>
              <a:rPr lang="en-US" i="1" dirty="0">
                <a:solidFill>
                  <a:schemeClr val="bg2"/>
                </a:solidFill>
              </a:rPr>
              <a:t>-Enhanced Multi-level Stress Inference from Wearable RR Intervals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6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8717B-8907-3863-79B3-34966BFD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25790-D340-0BE1-5F47-8C0A8E67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40A8E-4100-1F47-4C0C-98624E26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17EB0C-C197-4951-30CE-E57591D49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80905"/>
              </p:ext>
            </p:extLst>
          </p:nvPr>
        </p:nvGraphicFramePr>
        <p:xfrm>
          <a:off x="153782" y="127964"/>
          <a:ext cx="11582400" cy="613012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983832">
                  <a:extLst>
                    <a:ext uri="{9D8B030D-6E8A-4147-A177-3AD203B41FA5}">
                      <a16:colId xmlns:a16="http://schemas.microsoft.com/office/drawing/2014/main" val="2515877258"/>
                    </a:ext>
                  </a:extLst>
                </a:gridCol>
                <a:gridCol w="8598568">
                  <a:extLst>
                    <a:ext uri="{9D8B030D-6E8A-4147-A177-3AD203B41FA5}">
                      <a16:colId xmlns:a16="http://schemas.microsoft.com/office/drawing/2014/main" val="3216316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How we addressed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378402"/>
                  </a:ext>
                </a:extLst>
              </a:tr>
              <a:tr h="1613653">
                <a:tc>
                  <a:txBody>
                    <a:bodyPr/>
                    <a:lstStyle/>
                    <a:p>
                      <a:r>
                        <a:rPr lang="en-US" sz="1400" dirty="0"/>
                        <a:t>VR Component</a:t>
                      </a:r>
                    </a:p>
                    <a:p>
                      <a:r>
                        <a:rPr lang="en-US" sz="1400" dirty="0"/>
                        <a:t>How do you plan to evaluate your agent?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The key demonstration is how the </a:t>
                      </a:r>
                      <a:r>
                        <a:rPr lang="en-US" sz="1400" b="1" dirty="0"/>
                        <a:t>VR environment responds to real-time stress predictions</a:t>
                      </a:r>
                      <a:r>
                        <a:rPr lang="en-US" sz="1400" dirty="0"/>
                        <a:t>.</a:t>
                      </a:r>
                    </a:p>
                    <a:p>
                      <a:pPr lvl="0"/>
                      <a:r>
                        <a:rPr lang="en-US" sz="1400" dirty="0"/>
                        <a:t>Previously, a pre-recorded stress sequence could be replayed at accelerated speed to show different responses within a short demo.</a:t>
                      </a:r>
                    </a:p>
                    <a:p>
                      <a:pPr lvl="0"/>
                      <a:r>
                        <a:rPr lang="en-US" sz="1400" dirty="0"/>
                        <a:t>Now, the system is being demonstrated using </a:t>
                      </a:r>
                      <a:r>
                        <a:rPr lang="en-US" sz="1400" b="1" dirty="0"/>
                        <a:t>real-time physiological data</a:t>
                      </a:r>
                      <a:r>
                        <a:rPr lang="en-US" sz="1400" dirty="0"/>
                        <a:t>, with the agent responding directly to the user’s current stress state.</a:t>
                      </a:r>
                    </a:p>
                    <a:p>
                      <a:pPr lvl="0"/>
                      <a:r>
                        <a:rPr lang="en-US" sz="1400" dirty="0"/>
                        <a:t>The same processing and decision-making pipeline is used for both real-time and recorded inputs.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253092"/>
                  </a:ext>
                </a:extLst>
              </a:tr>
              <a:tr h="1613653">
                <a:tc>
                  <a:txBody>
                    <a:bodyPr/>
                    <a:lstStyle/>
                    <a:p>
                      <a:r>
                        <a:rPr lang="en-US" sz="1400"/>
                        <a:t>Stress classifier component</a:t>
                      </a:r>
                    </a:p>
                    <a:p>
                      <a:r>
                        <a:rPr lang="en-US" sz="1400"/>
                        <a:t>Improve scope and analytical depth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Expanded from simple </a:t>
                      </a:r>
                      <a:r>
                        <a:rPr lang="en-US" sz="1400" b="1" dirty="0"/>
                        <a:t>stress model development</a:t>
                      </a:r>
                      <a:r>
                        <a:rPr lang="en-US" sz="1400" dirty="0"/>
                        <a:t> to a </a:t>
                      </a:r>
                      <a:r>
                        <a:rPr lang="en-US" sz="1400" b="1" dirty="0"/>
                        <a:t>mechanism-focused analytical investigation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 err="1"/>
                        <a:t>Analysed</a:t>
                      </a:r>
                      <a:r>
                        <a:rPr lang="en-US" sz="1400" dirty="0"/>
                        <a:t> the contributions of </a:t>
                      </a:r>
                      <a:r>
                        <a:rPr lang="en-US" sz="1400" b="1" dirty="0"/>
                        <a:t>time, baseline (MESOR), and physiological deviation/residuals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/>
                        <a:t>Investigated </a:t>
                      </a:r>
                      <a:r>
                        <a:rPr lang="en-US" sz="1400" b="1" dirty="0"/>
                        <a:t>circadian validity, temporal coverage, and different baseline timescales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/>
                        <a:t>Added </a:t>
                      </a:r>
                      <a:r>
                        <a:rPr lang="en-US" sz="1400" b="1" dirty="0"/>
                        <a:t>ordinal error analysis, cross-dataset validation, architecture experiments, and statistical validation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/>
                        <a:t>Investigated </a:t>
                      </a:r>
                      <a:r>
                        <a:rPr lang="en-US" sz="1400" b="1" dirty="0" err="1"/>
                        <a:t>personalisation</a:t>
                      </a:r>
                      <a:r>
                        <a:rPr lang="en-US" sz="1400" b="1" dirty="0"/>
                        <a:t> and self-calibration</a:t>
                      </a:r>
                      <a:r>
                        <a:rPr lang="en-US" sz="1400" dirty="0"/>
                        <a:t> for practical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10671"/>
                  </a:ext>
                </a:extLst>
              </a:tr>
              <a:tr h="1308569">
                <a:tc>
                  <a:txBody>
                    <a:bodyPr/>
                    <a:lstStyle/>
                    <a:p>
                      <a:r>
                        <a:rPr lang="en-US" sz="1400" dirty="0"/>
                        <a:t>Audio controller component</a:t>
                      </a:r>
                    </a:p>
                    <a:p>
                      <a:r>
                        <a:rPr lang="en-US" sz="1400" dirty="0"/>
                        <a:t>Explain design and rewards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Improved the explanation and </a:t>
                      </a:r>
                      <a:r>
                        <a:rPr lang="en-US" sz="1400" dirty="0" err="1"/>
                        <a:t>formalisation</a:t>
                      </a:r>
                      <a:r>
                        <a:rPr lang="en-US" sz="1400" dirty="0"/>
                        <a:t> of the system design. </a:t>
                      </a:r>
                    </a:p>
                    <a:p>
                      <a:pPr lvl="0"/>
                      <a:r>
                        <a:rPr lang="en-US" sz="1400" dirty="0"/>
                        <a:t>Clearly defined the </a:t>
                      </a:r>
                      <a:r>
                        <a:rPr lang="en-US" sz="1400" b="1" dirty="0"/>
                        <a:t>State → Action → Reward → Learning Objective</a:t>
                      </a:r>
                      <a:r>
                        <a:rPr lang="en-US" sz="1400" dirty="0"/>
                        <a:t> framework. </a:t>
                      </a:r>
                    </a:p>
                    <a:p>
                      <a:pPr lvl="0"/>
                      <a:r>
                        <a:rPr lang="en-US" sz="1400" dirty="0"/>
                        <a:t>Explained how system actions are selected based on the user's current condition. </a:t>
                      </a:r>
                    </a:p>
                    <a:p>
                      <a:pPr lvl="0"/>
                      <a:r>
                        <a:rPr lang="en-US" sz="1400" dirty="0"/>
                        <a:t>Defined rewards based on </a:t>
                      </a:r>
                      <a:r>
                        <a:rPr lang="en-US" sz="1400" b="1" dirty="0"/>
                        <a:t>improvement, relaxation, stability, and appropriate adaptation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/>
                        <a:t>Prepared a clearer explanation of the overall decision-making process.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110007"/>
                  </a:ext>
                </a:extLst>
              </a:tr>
              <a:tr h="1289448">
                <a:tc>
                  <a:txBody>
                    <a:bodyPr/>
                    <a:lstStyle/>
                    <a:p>
                      <a:r>
                        <a:rPr lang="en-US" sz="1400" dirty="0"/>
                        <a:t>Voice-Based Stress Assessment component</a:t>
                      </a:r>
                    </a:p>
                    <a:p>
                      <a:r>
                        <a:rPr lang="en-US" sz="1400" dirty="0"/>
                        <a:t>Proper comparison of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Developed a more structured </a:t>
                      </a:r>
                      <a:r>
                        <a:rPr lang="en-US" sz="1400" b="1" dirty="0"/>
                        <a:t>comparison of existing studies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/>
                        <a:t>Compare studies based on </a:t>
                      </a:r>
                      <a:r>
                        <a:rPr lang="en-US" sz="1400" b="1" dirty="0"/>
                        <a:t>datasets, sensors, methods, AI techniques, real-time capability, and adaptivity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 err="1"/>
                        <a:t>Organised</a:t>
                      </a:r>
                      <a:r>
                        <a:rPr lang="en-US" sz="1400" dirty="0"/>
                        <a:t> previous research to clearly identify </a:t>
                      </a:r>
                      <a:r>
                        <a:rPr lang="en-US" sz="1400" b="1" dirty="0"/>
                        <a:t>limitations and research gaps</a:t>
                      </a:r>
                      <a:r>
                        <a:rPr lang="en-US" sz="1400" dirty="0"/>
                        <a:t>. </a:t>
                      </a:r>
                    </a:p>
                    <a:p>
                      <a:pPr lvl="0"/>
                      <a:r>
                        <a:rPr lang="en-US" sz="1400" dirty="0"/>
                        <a:t>Added a comparison between </a:t>
                      </a:r>
                      <a:r>
                        <a:rPr lang="en-US" sz="1400" b="1" dirty="0"/>
                        <a:t>existing approaches and the proposed system</a:t>
                      </a:r>
                      <a:r>
                        <a:rPr lang="en-US" sz="14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560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37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6D16D-86D2-BF86-737B-27CB4E49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134EC5-C554-16C4-B6AF-DE829AB1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22323-2A2A-49E2-342D-79E8DD0E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4</a:t>
            </a:fld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EC68AAF-8CF1-BAC1-F4E6-D365B8AB5229}"/>
              </a:ext>
            </a:extLst>
          </p:cNvPr>
          <p:cNvSpPr txBox="1"/>
          <p:nvPr/>
        </p:nvSpPr>
        <p:spPr>
          <a:xfrm>
            <a:off x="640080" y="384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13B20-326D-633F-7CB8-AAAAA5F6D1AC}"/>
              </a:ext>
            </a:extLst>
          </p:cNvPr>
          <p:cNvSpPr txBox="1"/>
          <p:nvPr/>
        </p:nvSpPr>
        <p:spPr>
          <a:xfrm>
            <a:off x="640080" y="1069848"/>
            <a:ext cx="6091516" cy="1069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meditation app on the market is static. It plays the same scene, the same sounds, at the same pace — whether the user is calm or panicking, and it has no idea which.</a:t>
            </a:r>
            <a:endParaRPr lang="en-US" sz="1700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BE389B41-2CD7-8B54-E583-01757F54D543}"/>
              </a:ext>
            </a:extLst>
          </p:cNvPr>
          <p:cNvSpPr/>
          <p:nvPr/>
        </p:nvSpPr>
        <p:spPr>
          <a:xfrm>
            <a:off x="7909560" y="956355"/>
            <a:ext cx="3749040" cy="4617720"/>
          </a:xfrm>
          <a:prstGeom prst="roundRect">
            <a:avLst>
              <a:gd name="adj" fmla="val 2195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4135A03-6C64-D441-1F6A-D8AADB446EAF}"/>
              </a:ext>
            </a:extLst>
          </p:cNvPr>
          <p:cNvSpPr txBox="1"/>
          <p:nvPr/>
        </p:nvSpPr>
        <p:spPr>
          <a:xfrm>
            <a:off x="8092440" y="123067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long-term engagement</a:t>
            </a:r>
            <a:endParaRPr lang="en-US" sz="13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23AE3E4-2A3A-EEBA-23B6-4C31AB0B0301}"/>
              </a:ext>
            </a:extLst>
          </p:cNvPr>
          <p:cNvSpPr txBox="1"/>
          <p:nvPr/>
        </p:nvSpPr>
        <p:spPr>
          <a:xfrm>
            <a:off x="8092440" y="1733595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4.7%</a:t>
            </a:r>
            <a:endParaRPr lang="en-US" sz="58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ECDFD63-9755-9F42-35EA-A5C39FB8BCFA}"/>
              </a:ext>
            </a:extLst>
          </p:cNvPr>
          <p:cNvSpPr txBox="1"/>
          <p:nvPr/>
        </p:nvSpPr>
        <p:spPr>
          <a:xfrm>
            <a:off x="8092440" y="303843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C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Day-30 retention for</a:t>
            </a:r>
            <a:endParaRPr lang="en-US" sz="13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C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/ meditation apps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FB5F63D-31C6-B783-56B8-244E09491089}"/>
              </a:ext>
            </a:extLst>
          </p:cNvPr>
          <p:cNvSpPr txBox="1"/>
          <p:nvPr/>
        </p:nvSpPr>
        <p:spPr>
          <a:xfrm>
            <a:off x="8183880" y="495685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95.3% not retained by Day 30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D3D5800-095D-266C-17DD-4FEFAC506BEA}"/>
              </a:ext>
            </a:extLst>
          </p:cNvPr>
          <p:cNvSpPr txBox="1"/>
          <p:nvPr/>
        </p:nvSpPr>
        <p:spPr>
          <a:xfrm>
            <a:off x="8092440" y="4751115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endParaRPr lang="en-US" sz="95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588AC3A-54A9-8013-D324-1F70BB162E9C}"/>
              </a:ext>
            </a:extLst>
          </p:cNvPr>
          <p:cNvSpPr/>
          <p:nvPr/>
        </p:nvSpPr>
        <p:spPr>
          <a:xfrm>
            <a:off x="443753" y="2471111"/>
            <a:ext cx="6675120" cy="1081795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31D133C8-DC88-BF45-DB22-6F19CA589741}"/>
              </a:ext>
            </a:extLst>
          </p:cNvPr>
          <p:cNvSpPr txBox="1"/>
          <p:nvPr/>
        </p:nvSpPr>
        <p:spPr>
          <a:xfrm>
            <a:off x="699785" y="253708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5C9F54B7-33EB-7413-E774-22EAB9CE739F}"/>
              </a:ext>
            </a:extLst>
          </p:cNvPr>
          <p:cNvSpPr txBox="1"/>
          <p:nvPr/>
        </p:nvSpPr>
        <p:spPr>
          <a:xfrm>
            <a:off x="699785" y="288455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guided relaxation that responds to them, specially University Students</a:t>
            </a:r>
            <a:endParaRPr lang="en-US" sz="140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34092067-F2F7-671D-8CAC-57FBDD6C3935}"/>
              </a:ext>
            </a:extLst>
          </p:cNvPr>
          <p:cNvSpPr/>
          <p:nvPr/>
        </p:nvSpPr>
        <p:spPr>
          <a:xfrm>
            <a:off x="443753" y="3836715"/>
            <a:ext cx="6675120" cy="914400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F72F9E4E-C6F2-0D43-F0BD-E1A56F7C6B55}"/>
              </a:ext>
            </a:extLst>
          </p:cNvPr>
          <p:cNvSpPr txBox="1"/>
          <p:nvPr/>
        </p:nvSpPr>
        <p:spPr>
          <a:xfrm>
            <a:off x="672353" y="4001307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3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E6C16F0A-FB2D-D9BD-C7AC-31349194D250}"/>
              </a:ext>
            </a:extLst>
          </p:cNvPr>
          <p:cNvSpPr txBox="1"/>
          <p:nvPr/>
        </p:nvSpPr>
        <p:spPr>
          <a:xfrm>
            <a:off x="672353" y="4348779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cannot sense the user cannot adapt to them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866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1EE32-C767-12D9-E7BD-CC08B385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20605-B911-DCF7-675C-9FFE15A2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DD6B2-5628-342E-47ED-D51ED32D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5</a:t>
            </a:fld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C1DDCC0-9304-8EB5-52C6-7CBC9EB45A72}"/>
              </a:ext>
            </a:extLst>
          </p:cNvPr>
          <p:cNvSpPr txBox="1"/>
          <p:nvPr/>
        </p:nvSpPr>
        <p:spPr>
          <a:xfrm>
            <a:off x="640080" y="384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objectives</a:t>
            </a:r>
            <a:endParaRPr lang="en-US" sz="3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17D9E489-FD62-40B9-500A-A90CBD836636}"/>
              </a:ext>
            </a:extLst>
          </p:cNvPr>
          <p:cNvSpPr/>
          <p:nvPr/>
        </p:nvSpPr>
        <p:spPr>
          <a:xfrm>
            <a:off x="672084" y="1280160"/>
            <a:ext cx="3447288" cy="2397672"/>
          </a:xfrm>
          <a:prstGeom prst="roundRect">
            <a:avLst>
              <a:gd name="adj" fmla="val 2951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B0AB5B4-791A-FDE1-17F0-2D4FA6F9538A}"/>
              </a:ext>
            </a:extLst>
          </p:cNvPr>
          <p:cNvSpPr/>
          <p:nvPr/>
        </p:nvSpPr>
        <p:spPr>
          <a:xfrm>
            <a:off x="896112" y="153619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34867A9-FA6D-06E4-F50F-E4DDED8B5A2B}"/>
              </a:ext>
            </a:extLst>
          </p:cNvPr>
          <p:cNvSpPr txBox="1"/>
          <p:nvPr/>
        </p:nvSpPr>
        <p:spPr>
          <a:xfrm>
            <a:off x="896112" y="157734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19657CD-C03F-F8D6-4AED-519249159233}"/>
              </a:ext>
            </a:extLst>
          </p:cNvPr>
          <p:cNvSpPr txBox="1"/>
          <p:nvPr/>
        </p:nvSpPr>
        <p:spPr>
          <a:xfrm>
            <a:off x="141732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</a:t>
            </a:r>
            <a:endParaRPr lang="en-US" sz="19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000BEE0-9DB8-7EC4-DD22-49B293A6AA60}"/>
              </a:ext>
            </a:extLst>
          </p:cNvPr>
          <p:cNvSpPr txBox="1"/>
          <p:nvPr/>
        </p:nvSpPr>
        <p:spPr>
          <a:xfrm>
            <a:off x="896112" y="21488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stress models are evaluated offline, on complete recordings, using data a live system never has — and wrist sensors give no measure of how far a reading can be trusted.</a:t>
            </a:r>
            <a:endParaRPr lang="en-US" sz="135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E10329E-9D5D-323F-BCB3-70003D45AA87}"/>
              </a:ext>
            </a:extLst>
          </p:cNvPr>
          <p:cNvSpPr/>
          <p:nvPr/>
        </p:nvSpPr>
        <p:spPr>
          <a:xfrm>
            <a:off x="4361688" y="1280160"/>
            <a:ext cx="3447288" cy="2397672"/>
          </a:xfrm>
          <a:prstGeom prst="roundRect">
            <a:avLst>
              <a:gd name="adj" fmla="val 2951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3AFEBE03-D41E-70D7-46FA-9214F3665E7B}"/>
              </a:ext>
            </a:extLst>
          </p:cNvPr>
          <p:cNvSpPr/>
          <p:nvPr/>
        </p:nvSpPr>
        <p:spPr>
          <a:xfrm>
            <a:off x="4617720" y="1536192"/>
            <a:ext cx="384048" cy="384048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DED5737-16AA-4B95-E86F-10E6092405A6}"/>
              </a:ext>
            </a:extLst>
          </p:cNvPr>
          <p:cNvSpPr txBox="1"/>
          <p:nvPr/>
        </p:nvSpPr>
        <p:spPr>
          <a:xfrm>
            <a:off x="4617720" y="157734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368CAF4-616F-C099-DC70-07B2FDB8FFB2}"/>
              </a:ext>
            </a:extLst>
          </p:cNvPr>
          <p:cNvSpPr txBox="1"/>
          <p:nvPr/>
        </p:nvSpPr>
        <p:spPr>
          <a:xfrm>
            <a:off x="5138928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</a:t>
            </a:r>
            <a:endParaRPr lang="en-US" sz="19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A2AAD83-484C-D072-57A6-BAF2D9E016E0}"/>
              </a:ext>
            </a:extLst>
          </p:cNvPr>
          <p:cNvSpPr txBox="1"/>
          <p:nvPr/>
        </p:nvSpPr>
        <p:spPr>
          <a:xfrm>
            <a:off x="4617720" y="21488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VR systems assume one optimal policy for every user and play fixed soundscapes. Preferences are pluralistic and divergent.</a:t>
            </a:r>
            <a:endParaRPr lang="en-US" sz="135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F75AD567-0A3A-43F9-1389-97F46C3E7874}"/>
              </a:ext>
            </a:extLst>
          </p:cNvPr>
          <p:cNvSpPr/>
          <p:nvPr/>
        </p:nvSpPr>
        <p:spPr>
          <a:xfrm>
            <a:off x="8060436" y="1280160"/>
            <a:ext cx="3447288" cy="2397672"/>
          </a:xfrm>
          <a:prstGeom prst="roundRect">
            <a:avLst>
              <a:gd name="adj" fmla="val 2951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B1C6C978-BA4D-7DE9-1DA6-8D3F420B2D8B}"/>
              </a:ext>
            </a:extLst>
          </p:cNvPr>
          <p:cNvSpPr/>
          <p:nvPr/>
        </p:nvSpPr>
        <p:spPr>
          <a:xfrm>
            <a:off x="8339328" y="153619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55E1C91F-AFBF-5CC4-0B63-100A296FB27E}"/>
              </a:ext>
            </a:extLst>
          </p:cNvPr>
          <p:cNvSpPr txBox="1"/>
          <p:nvPr/>
        </p:nvSpPr>
        <p:spPr>
          <a:xfrm>
            <a:off x="8339328" y="157734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2BB2A79D-CCE5-F08C-6BFD-B2D6DB72D772}"/>
              </a:ext>
            </a:extLst>
          </p:cNvPr>
          <p:cNvSpPr txBox="1"/>
          <p:nvPr/>
        </p:nvSpPr>
        <p:spPr>
          <a:xfrm>
            <a:off x="8860536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6EE9F63A-C7D6-A5AA-0915-E55D25EBE85D}"/>
              </a:ext>
            </a:extLst>
          </p:cNvPr>
          <p:cNvSpPr txBox="1"/>
          <p:nvPr/>
        </p:nvSpPr>
        <p:spPr>
          <a:xfrm>
            <a:off x="8339328" y="21488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success is judged by questionnaire, or from the very signal that drove the adaptation — so it is assumed rather than shown.</a:t>
            </a:r>
            <a:endParaRPr lang="en-US" sz="135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1B208B17-2A98-CAFB-0C21-3868301708FA}"/>
              </a:ext>
            </a:extLst>
          </p:cNvPr>
          <p:cNvSpPr txBox="1"/>
          <p:nvPr/>
        </p:nvSpPr>
        <p:spPr>
          <a:xfrm>
            <a:off x="672084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B7DC63-026A-49F4-E7C6-6AA7256A49C4}"/>
              </a:ext>
            </a:extLst>
          </p:cNvPr>
          <p:cNvSpPr txBox="1"/>
          <p:nvPr/>
        </p:nvSpPr>
        <p:spPr>
          <a:xfrm>
            <a:off x="626229" y="3955706"/>
            <a:ext cx="737338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Continuous Sensing</a:t>
            </a:r>
            <a:r>
              <a:rPr lang="en-US" sz="1400" dirty="0"/>
              <a:t> – Capture and reliably stream wearable heart-rate data with quality estimation.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Real-Time Stress Inference</a:t>
            </a:r>
            <a:r>
              <a:rPr lang="en-US" sz="1400" dirty="0"/>
              <a:t> – Classify four stress levels from HRV with confidence scores.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Adaptive Visual Environment</a:t>
            </a:r>
            <a:r>
              <a:rPr lang="en-US" sz="1400" dirty="0"/>
              <a:t> – </a:t>
            </a:r>
            <a:r>
              <a:rPr lang="en-US" sz="1400" dirty="0" err="1"/>
              <a:t>Personalise</a:t>
            </a:r>
            <a:r>
              <a:rPr lang="en-US" sz="1400" dirty="0"/>
              <a:t> VR visuals using reinforcement learning based on stress.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Adaptive Audio Environment</a:t>
            </a:r>
            <a:r>
              <a:rPr lang="en-US" sz="1400" dirty="0"/>
              <a:t> – </a:t>
            </a:r>
            <a:r>
              <a:rPr lang="en-US" sz="1400" dirty="0" err="1"/>
              <a:t>Personalise</a:t>
            </a:r>
            <a:r>
              <a:rPr lang="en-US" sz="1400" dirty="0"/>
              <a:t> ambient and meditation audio throughout the session.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Independent Session Validation</a:t>
            </a:r>
            <a:r>
              <a:rPr lang="en-US" sz="1400" dirty="0"/>
              <a:t> – Validate stress reduction using voice-based stress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System Integration</a:t>
            </a:r>
            <a:r>
              <a:rPr lang="en-US" sz="1400" dirty="0"/>
              <a:t> – Integrate all components into a unified closed-loop system.</a:t>
            </a:r>
          </a:p>
          <a:p>
            <a:endParaRPr lang="en-US" dirty="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3B8D6B71-3420-3B58-A505-A984FD938E15}"/>
              </a:ext>
            </a:extLst>
          </p:cNvPr>
          <p:cNvSpPr/>
          <p:nvPr/>
        </p:nvSpPr>
        <p:spPr>
          <a:xfrm>
            <a:off x="8065423" y="3749040"/>
            <a:ext cx="3654629" cy="2607310"/>
          </a:xfrm>
          <a:prstGeom prst="roundRect">
            <a:avLst>
              <a:gd name="adj" fmla="val 2195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039926B6-803C-9687-A70D-CFDF8A56C920}"/>
              </a:ext>
            </a:extLst>
          </p:cNvPr>
          <p:cNvSpPr txBox="1"/>
          <p:nvPr/>
        </p:nvSpPr>
        <p:spPr>
          <a:xfrm>
            <a:off x="8248303" y="4023360"/>
            <a:ext cx="32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2000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3158FE55-AF0A-F654-4906-E0F66304AE6C}"/>
              </a:ext>
            </a:extLst>
          </p:cNvPr>
          <p:cNvSpPr txBox="1"/>
          <p:nvPr/>
        </p:nvSpPr>
        <p:spPr>
          <a:xfrm>
            <a:off x="8248303" y="4702433"/>
            <a:ext cx="32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Develop and evaluate an AI-driven adaptive VR meditation system for real-time stress reduction.</a:t>
            </a:r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6166EB08-481E-3C30-8022-E4E5E43C1939}"/>
              </a:ext>
            </a:extLst>
          </p:cNvPr>
          <p:cNvSpPr txBox="1"/>
          <p:nvPr/>
        </p:nvSpPr>
        <p:spPr>
          <a:xfrm>
            <a:off x="8544097" y="77495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95.3% not retained by Day 30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013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BB081-1D6C-259B-EF70-1A798011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D6A39-754C-0497-D416-DD23747C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92F67-14A7-7C11-7186-BA44AB8B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D6BC39-4E67-56C4-9CA6-452FB290EC3C}"/>
              </a:ext>
            </a:extLst>
          </p:cNvPr>
          <p:cNvSpPr txBox="1">
            <a:spLocks/>
          </p:cNvSpPr>
          <p:nvPr/>
        </p:nvSpPr>
        <p:spPr>
          <a:xfrm>
            <a:off x="333983" y="191953"/>
            <a:ext cx="11684000" cy="7921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Proposed Solution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D55E9DF6-A518-78DC-8A57-8155BEF17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730" y="923798"/>
            <a:ext cx="4314217" cy="5010403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4BEC08F-A01F-0ECC-7DD8-5DB36FAD73B2}"/>
              </a:ext>
            </a:extLst>
          </p:cNvPr>
          <p:cNvSpPr txBox="1">
            <a:spLocks/>
          </p:cNvSpPr>
          <p:nvPr/>
        </p:nvSpPr>
        <p:spPr>
          <a:xfrm>
            <a:off x="5638800" y="1140737"/>
            <a:ext cx="6256506" cy="4640631"/>
          </a:xfrm>
          <a:prstGeom prst="rect">
            <a:avLst/>
          </a:prstGeom>
          <a:solidFill>
            <a:srgbClr val="EEF4F1"/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Physiological Data Acquisition</a:t>
            </a:r>
            <a:r>
              <a:rPr lang="en-US" sz="2000" dirty="0"/>
              <a:t> – collects physiological signals from wearable sensors such as HRV and heart rate.</a:t>
            </a:r>
          </a:p>
          <a:p>
            <a:r>
              <a:rPr lang="en-US" sz="2000" b="1" dirty="0"/>
              <a:t>Stress Inference Engine</a:t>
            </a:r>
            <a:r>
              <a:rPr lang="en-US" sz="2000" dirty="0"/>
              <a:t> – analyzes HRV features and temporal patterns to classify the user’s stress level.</a:t>
            </a:r>
          </a:p>
          <a:p>
            <a:r>
              <a:rPr lang="en-US" sz="2000" b="1" dirty="0"/>
              <a:t>Adaptive Environment Controller</a:t>
            </a:r>
            <a:r>
              <a:rPr lang="en-US" sz="2000" dirty="0"/>
              <a:t> – dynamically adjusts meditation visuals and ambience based on detected stress.</a:t>
            </a:r>
          </a:p>
          <a:p>
            <a:r>
              <a:rPr lang="en-US" sz="2000" b="1" dirty="0"/>
              <a:t>Adaptive Audio Controller</a:t>
            </a:r>
            <a:r>
              <a:rPr lang="en-US" sz="2000" dirty="0"/>
              <a:t> – modifies soundscape and meditation audio to enhance relaxation.</a:t>
            </a:r>
          </a:p>
          <a:p>
            <a:r>
              <a:rPr lang="en-US" sz="2000" b="1" dirty="0"/>
              <a:t>Session Validation Module</a:t>
            </a:r>
            <a:r>
              <a:rPr lang="en-US" sz="2000" dirty="0"/>
              <a:t> – evaluates meditation effectiveness using voice-based stress analysis and system feedback.</a:t>
            </a:r>
          </a:p>
        </p:txBody>
      </p:sp>
    </p:spTree>
    <p:extLst>
      <p:ext uri="{BB962C8B-B14F-4D97-AF65-F5344CB8AC3E}">
        <p14:creationId xmlns:p14="http://schemas.microsoft.com/office/powerpoint/2010/main" val="260595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64FAC-2A96-1546-2741-C6C7035B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B0070-72E7-A69A-4FE1-1D090176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A7EF9-3989-6A8D-6885-F7D71CDB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7</a:t>
            </a:fld>
            <a:endParaRPr lang="en-US"/>
          </a:p>
        </p:txBody>
      </p:sp>
      <p:sp>
        <p:nvSpPr>
          <p:cNvPr id="74" name="Text 0">
            <a:extLst>
              <a:ext uri="{FF2B5EF4-FFF2-40B4-BE49-F238E27FC236}">
                <a16:creationId xmlns:a16="http://schemas.microsoft.com/office/drawing/2014/main" id="{57F69471-F3CE-0181-6807-3B69FEDE3B81}"/>
              </a:ext>
            </a:extLst>
          </p:cNvPr>
          <p:cNvSpPr txBox="1"/>
          <p:nvPr/>
        </p:nvSpPr>
        <p:spPr>
          <a:xfrm>
            <a:off x="640080" y="384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and completion</a:t>
            </a:r>
            <a:endParaRPr lang="en-US" sz="3200" dirty="0"/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27DA15A7-C19E-A99F-897B-CDD02846B4C7}"/>
              </a:ext>
            </a:extLst>
          </p:cNvPr>
          <p:cNvSpPr txBox="1"/>
          <p:nvPr/>
        </p:nvSpPr>
        <p:spPr>
          <a:xfrm>
            <a:off x="640080" y="1261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F22D71F2-282B-1575-A2CA-E4C41A8BEF6B}"/>
              </a:ext>
            </a:extLst>
          </p:cNvPr>
          <p:cNvSpPr txBox="1"/>
          <p:nvPr/>
        </p:nvSpPr>
        <p:spPr>
          <a:xfrm>
            <a:off x="4038600" y="1261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1825706D-7F5E-1F85-6DE2-95462DC05BAA}"/>
              </a:ext>
            </a:extLst>
          </p:cNvPr>
          <p:cNvSpPr txBox="1"/>
          <p:nvPr/>
        </p:nvSpPr>
        <p:spPr>
          <a:xfrm>
            <a:off x="8808720" y="1252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today</a:t>
            </a:r>
            <a:endParaRPr lang="en-US" sz="1600" dirty="0"/>
          </a:p>
        </p:txBody>
      </p:sp>
      <p:sp>
        <p:nvSpPr>
          <p:cNvPr id="86" name="Shape 6">
            <a:extLst>
              <a:ext uri="{FF2B5EF4-FFF2-40B4-BE49-F238E27FC236}">
                <a16:creationId xmlns:a16="http://schemas.microsoft.com/office/drawing/2014/main" id="{D5E94AAD-F9BB-ED16-7740-53CB4DE90FC3}"/>
              </a:ext>
            </a:extLst>
          </p:cNvPr>
          <p:cNvSpPr/>
          <p:nvPr/>
        </p:nvSpPr>
        <p:spPr>
          <a:xfrm>
            <a:off x="640080" y="1609344"/>
            <a:ext cx="10881360" cy="0"/>
          </a:xfrm>
          <a:prstGeom prst="line">
            <a:avLst/>
          </a:prstGeom>
          <a:noFill/>
          <a:ln w="12700">
            <a:solidFill>
              <a:srgbClr val="D6D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7">
            <a:extLst>
              <a:ext uri="{FF2B5EF4-FFF2-40B4-BE49-F238E27FC236}">
                <a16:creationId xmlns:a16="http://schemas.microsoft.com/office/drawing/2014/main" id="{92655BB1-0B52-B751-1FBD-E7E03D06A0B7}"/>
              </a:ext>
            </a:extLst>
          </p:cNvPr>
          <p:cNvSpPr/>
          <p:nvPr/>
        </p:nvSpPr>
        <p:spPr>
          <a:xfrm>
            <a:off x="530352" y="1728216"/>
            <a:ext cx="11100816" cy="521208"/>
          </a:xfrm>
          <a:prstGeom prst="roundRect">
            <a:avLst>
              <a:gd name="adj" fmla="val 15789"/>
            </a:avLst>
          </a:prstGeom>
          <a:solidFill>
            <a:srgbClr val="F6F9F8"/>
          </a:solidFill>
          <a:ln w="12700">
            <a:solidFill>
              <a:srgbClr val="F6F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F6625544-7464-CFCC-E8DF-AE2FCD15BEE3}"/>
              </a:ext>
            </a:extLst>
          </p:cNvPr>
          <p:cNvSpPr txBox="1"/>
          <p:nvPr/>
        </p:nvSpPr>
        <p:spPr>
          <a:xfrm>
            <a:off x="640080" y="18196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+ app  (common)</a:t>
            </a:r>
            <a:endParaRPr lang="en-US" sz="1600" dirty="0"/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8B11A479-4DC8-DCA3-1BA6-C499EFFC87E9}"/>
              </a:ext>
            </a:extLst>
          </p:cNvPr>
          <p:cNvSpPr txBox="1"/>
          <p:nvPr/>
        </p:nvSpPr>
        <p:spPr>
          <a:xfrm>
            <a:off x="3383280" y="1819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streaming + signal quality</a:t>
            </a:r>
            <a:endParaRPr lang="en-US" sz="1600" dirty="0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FB40E953-DD16-CAE8-E8CB-9112DFFBC5F2}"/>
              </a:ext>
            </a:extLst>
          </p:cNvPr>
          <p:cNvSpPr txBox="1"/>
          <p:nvPr/>
        </p:nvSpPr>
        <p:spPr>
          <a:xfrm>
            <a:off x="640080" y="23682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inference</a:t>
            </a:r>
            <a:endParaRPr lang="en-US" sz="1600" dirty="0"/>
          </a:p>
        </p:txBody>
      </p:sp>
      <p:sp>
        <p:nvSpPr>
          <p:cNvPr id="100" name="Text 13">
            <a:extLst>
              <a:ext uri="{FF2B5EF4-FFF2-40B4-BE49-F238E27FC236}">
                <a16:creationId xmlns:a16="http://schemas.microsoft.com/office/drawing/2014/main" id="{B7061556-84CF-97CA-1B17-3DD87ABD40E1}"/>
              </a:ext>
            </a:extLst>
          </p:cNvPr>
          <p:cNvSpPr txBox="1"/>
          <p:nvPr/>
        </p:nvSpPr>
        <p:spPr>
          <a:xfrm>
            <a:off x="3383280" y="23682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live classification</a:t>
            </a:r>
            <a:endParaRPr lang="en-US" sz="1600" dirty="0"/>
          </a:p>
        </p:txBody>
      </p:sp>
      <p:sp>
        <p:nvSpPr>
          <p:cNvPr id="102" name="Text 14">
            <a:extLst>
              <a:ext uri="{FF2B5EF4-FFF2-40B4-BE49-F238E27FC236}">
                <a16:creationId xmlns:a16="http://schemas.microsoft.com/office/drawing/2014/main" id="{B00B66DD-A4C0-D27A-80FE-7A4498033991}"/>
              </a:ext>
            </a:extLst>
          </p:cNvPr>
          <p:cNvSpPr txBox="1"/>
          <p:nvPr/>
        </p:nvSpPr>
        <p:spPr>
          <a:xfrm>
            <a:off x="8808720" y="180966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04" name="Text 15">
            <a:extLst>
              <a:ext uri="{FF2B5EF4-FFF2-40B4-BE49-F238E27FC236}">
                <a16:creationId xmlns:a16="http://schemas.microsoft.com/office/drawing/2014/main" id="{417587DA-17AB-5B53-958B-54414A20A146}"/>
              </a:ext>
            </a:extLst>
          </p:cNvPr>
          <p:cNvSpPr txBox="1"/>
          <p:nvPr/>
        </p:nvSpPr>
        <p:spPr>
          <a:xfrm>
            <a:off x="8961120" y="2368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6" name="Shape 16">
            <a:extLst>
              <a:ext uri="{FF2B5EF4-FFF2-40B4-BE49-F238E27FC236}">
                <a16:creationId xmlns:a16="http://schemas.microsoft.com/office/drawing/2014/main" id="{75798A24-E61E-4B98-290A-889006B2C444}"/>
              </a:ext>
            </a:extLst>
          </p:cNvPr>
          <p:cNvSpPr/>
          <p:nvPr/>
        </p:nvSpPr>
        <p:spPr>
          <a:xfrm>
            <a:off x="530352" y="2825496"/>
            <a:ext cx="11100816" cy="521208"/>
          </a:xfrm>
          <a:prstGeom prst="roundRect">
            <a:avLst>
              <a:gd name="adj" fmla="val 15789"/>
            </a:avLst>
          </a:prstGeom>
          <a:solidFill>
            <a:srgbClr val="F6F9F8"/>
          </a:solidFill>
          <a:ln w="12700">
            <a:solidFill>
              <a:srgbClr val="F6F9F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8" name="Text 17">
            <a:extLst>
              <a:ext uri="{FF2B5EF4-FFF2-40B4-BE49-F238E27FC236}">
                <a16:creationId xmlns:a16="http://schemas.microsoft.com/office/drawing/2014/main" id="{09A66CBD-5C5B-EF0F-B9B9-E733EBA4D855}"/>
              </a:ext>
            </a:extLst>
          </p:cNvPr>
          <p:cNvSpPr txBox="1"/>
          <p:nvPr/>
        </p:nvSpPr>
        <p:spPr>
          <a:xfrm>
            <a:off x="640080" y="2916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RL agent</a:t>
            </a:r>
            <a:endParaRPr lang="en-US" sz="1600" dirty="0"/>
          </a:p>
        </p:txBody>
      </p:sp>
      <p:sp>
        <p:nvSpPr>
          <p:cNvPr id="110" name="Text 18">
            <a:extLst>
              <a:ext uri="{FF2B5EF4-FFF2-40B4-BE49-F238E27FC236}">
                <a16:creationId xmlns:a16="http://schemas.microsoft.com/office/drawing/2014/main" id="{8EA01AB8-6550-5C27-9178-586F0E9538FF}"/>
              </a:ext>
            </a:extLst>
          </p:cNvPr>
          <p:cNvSpPr txBox="1"/>
          <p:nvPr/>
        </p:nvSpPr>
        <p:spPr>
          <a:xfrm>
            <a:off x="3383279" y="2916936"/>
            <a:ext cx="35877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scenes, RL over fog / light / colour</a:t>
            </a:r>
            <a:endParaRPr lang="en-US" sz="1600" dirty="0"/>
          </a:p>
        </p:txBody>
      </p:sp>
      <p:sp>
        <p:nvSpPr>
          <p:cNvPr id="116" name="Text 21">
            <a:extLst>
              <a:ext uri="{FF2B5EF4-FFF2-40B4-BE49-F238E27FC236}">
                <a16:creationId xmlns:a16="http://schemas.microsoft.com/office/drawing/2014/main" id="{DC653BF9-3E90-46D2-0A61-EBFAFD2901EA}"/>
              </a:ext>
            </a:extLst>
          </p:cNvPr>
          <p:cNvSpPr txBox="1"/>
          <p:nvPr/>
        </p:nvSpPr>
        <p:spPr>
          <a:xfrm>
            <a:off x="640080" y="34655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RL agent</a:t>
            </a:r>
            <a:endParaRPr lang="en-US" sz="1600" dirty="0"/>
          </a:p>
        </p:txBody>
      </p:sp>
      <p:sp>
        <p:nvSpPr>
          <p:cNvPr id="118" name="Text 22">
            <a:extLst>
              <a:ext uri="{FF2B5EF4-FFF2-40B4-BE49-F238E27FC236}">
                <a16:creationId xmlns:a16="http://schemas.microsoft.com/office/drawing/2014/main" id="{AE03694B-1540-560C-7724-3D5632232302}"/>
              </a:ext>
            </a:extLst>
          </p:cNvPr>
          <p:cNvSpPr txBox="1"/>
          <p:nvPr/>
        </p:nvSpPr>
        <p:spPr>
          <a:xfrm>
            <a:off x="3383280" y="3465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vs. generated music</a:t>
            </a:r>
            <a:endParaRPr lang="en-US" sz="1600" dirty="0"/>
          </a:p>
        </p:txBody>
      </p:sp>
      <p:sp>
        <p:nvSpPr>
          <p:cNvPr id="124" name="Shape 25">
            <a:extLst>
              <a:ext uri="{FF2B5EF4-FFF2-40B4-BE49-F238E27FC236}">
                <a16:creationId xmlns:a16="http://schemas.microsoft.com/office/drawing/2014/main" id="{68E6AB27-9329-071A-9B2E-242D6F205B36}"/>
              </a:ext>
            </a:extLst>
          </p:cNvPr>
          <p:cNvSpPr/>
          <p:nvPr/>
        </p:nvSpPr>
        <p:spPr>
          <a:xfrm>
            <a:off x="530352" y="3922776"/>
            <a:ext cx="11100816" cy="521208"/>
          </a:xfrm>
          <a:prstGeom prst="roundRect">
            <a:avLst>
              <a:gd name="adj" fmla="val 15789"/>
            </a:avLst>
          </a:prstGeom>
          <a:solidFill>
            <a:srgbClr val="F6F9F8"/>
          </a:solidFill>
          <a:ln w="12700">
            <a:solidFill>
              <a:srgbClr val="F6F9F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8516D2B2-141F-5709-A10E-889FE2A79EF2}"/>
              </a:ext>
            </a:extLst>
          </p:cNvPr>
          <p:cNvSpPr txBox="1"/>
          <p:nvPr/>
        </p:nvSpPr>
        <p:spPr>
          <a:xfrm>
            <a:off x="640080" y="40142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validation</a:t>
            </a:r>
            <a:endParaRPr lang="en-US" sz="1600" dirty="0"/>
          </a:p>
        </p:txBody>
      </p:sp>
      <p:sp>
        <p:nvSpPr>
          <p:cNvPr id="128" name="Text 27">
            <a:extLst>
              <a:ext uri="{FF2B5EF4-FFF2-40B4-BE49-F238E27FC236}">
                <a16:creationId xmlns:a16="http://schemas.microsoft.com/office/drawing/2014/main" id="{8B907A19-9157-2108-F83A-132DB0FB859F}"/>
              </a:ext>
            </a:extLst>
          </p:cNvPr>
          <p:cNvSpPr txBox="1"/>
          <p:nvPr/>
        </p:nvSpPr>
        <p:spPr>
          <a:xfrm>
            <a:off x="3383279" y="4014216"/>
            <a:ext cx="41875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speech, cross-modal, anomaly</a:t>
            </a:r>
            <a:endParaRPr lang="en-US" sz="1600" dirty="0"/>
          </a:p>
        </p:txBody>
      </p:sp>
      <p:sp>
        <p:nvSpPr>
          <p:cNvPr id="134" name="Text 30">
            <a:extLst>
              <a:ext uri="{FF2B5EF4-FFF2-40B4-BE49-F238E27FC236}">
                <a16:creationId xmlns:a16="http://schemas.microsoft.com/office/drawing/2014/main" id="{1E3B3572-FB29-0EF9-D1B9-8CA791D15F90}"/>
              </a:ext>
            </a:extLst>
          </p:cNvPr>
          <p:cNvSpPr txBox="1"/>
          <p:nvPr/>
        </p:nvSpPr>
        <p:spPr>
          <a:xfrm>
            <a:off x="640080" y="45628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loop</a:t>
            </a:r>
            <a:endParaRPr lang="en-US" sz="1600" dirty="0"/>
          </a:p>
        </p:txBody>
      </p:sp>
      <p:sp>
        <p:nvSpPr>
          <p:cNvPr id="136" name="Text 31">
            <a:extLst>
              <a:ext uri="{FF2B5EF4-FFF2-40B4-BE49-F238E27FC236}">
                <a16:creationId xmlns:a16="http://schemas.microsoft.com/office/drawing/2014/main" id="{C1AEDD39-93E1-2950-97EF-232F017CFB7D}"/>
              </a:ext>
            </a:extLst>
          </p:cNvPr>
          <p:cNvSpPr txBox="1"/>
          <p:nvPr/>
        </p:nvSpPr>
        <p:spPr>
          <a:xfrm>
            <a:off x="3383280" y="45628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headset → report</a:t>
            </a:r>
            <a:endParaRPr lang="en-US" sz="1600" dirty="0"/>
          </a:p>
        </p:txBody>
      </p:sp>
      <p:sp>
        <p:nvSpPr>
          <p:cNvPr id="146" name="Text 14">
            <a:extLst>
              <a:ext uri="{FF2B5EF4-FFF2-40B4-BE49-F238E27FC236}">
                <a16:creationId xmlns:a16="http://schemas.microsoft.com/office/drawing/2014/main" id="{4FC37AF4-3B67-FC11-CEF7-56C6097B47A6}"/>
              </a:ext>
            </a:extLst>
          </p:cNvPr>
          <p:cNvSpPr txBox="1"/>
          <p:nvPr/>
        </p:nvSpPr>
        <p:spPr>
          <a:xfrm>
            <a:off x="8778240" y="23911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48" name="Text 14">
            <a:extLst>
              <a:ext uri="{FF2B5EF4-FFF2-40B4-BE49-F238E27FC236}">
                <a16:creationId xmlns:a16="http://schemas.microsoft.com/office/drawing/2014/main" id="{37B4CD5C-A948-5749-213E-9DAFD92C4F46}"/>
              </a:ext>
            </a:extLst>
          </p:cNvPr>
          <p:cNvSpPr txBox="1"/>
          <p:nvPr/>
        </p:nvSpPr>
        <p:spPr>
          <a:xfrm>
            <a:off x="8778240" y="40142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50" name="Text 14">
            <a:extLst>
              <a:ext uri="{FF2B5EF4-FFF2-40B4-BE49-F238E27FC236}">
                <a16:creationId xmlns:a16="http://schemas.microsoft.com/office/drawing/2014/main" id="{F65DEC09-0A7A-FF1E-F612-795A0413D7E2}"/>
              </a:ext>
            </a:extLst>
          </p:cNvPr>
          <p:cNvSpPr txBox="1"/>
          <p:nvPr/>
        </p:nvSpPr>
        <p:spPr>
          <a:xfrm>
            <a:off x="8778240" y="34342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52" name="Text 14">
            <a:extLst>
              <a:ext uri="{FF2B5EF4-FFF2-40B4-BE49-F238E27FC236}">
                <a16:creationId xmlns:a16="http://schemas.microsoft.com/office/drawing/2014/main" id="{A0552FE9-D578-5C77-C9A6-9BB2F55658AC}"/>
              </a:ext>
            </a:extLst>
          </p:cNvPr>
          <p:cNvSpPr txBox="1"/>
          <p:nvPr/>
        </p:nvSpPr>
        <p:spPr>
          <a:xfrm>
            <a:off x="8778240" y="292008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54" name="Text 14">
            <a:extLst>
              <a:ext uri="{FF2B5EF4-FFF2-40B4-BE49-F238E27FC236}">
                <a16:creationId xmlns:a16="http://schemas.microsoft.com/office/drawing/2014/main" id="{299B120B-F24E-1553-8C6B-FB09028126CB}"/>
              </a:ext>
            </a:extLst>
          </p:cNvPr>
          <p:cNvSpPr txBox="1"/>
          <p:nvPr/>
        </p:nvSpPr>
        <p:spPr>
          <a:xfrm>
            <a:off x="8808720" y="4543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8125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E1E5A-13BE-5E17-F3DA-7027E8B8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CA1383-C659-8D78-BD2B-DD6FCD29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4FC9-D522-AFA9-6A5A-167F931E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EA3BF5-B298-75F9-3836-09F39DEE3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943116"/>
              </p:ext>
            </p:extLst>
          </p:nvPr>
        </p:nvGraphicFramePr>
        <p:xfrm>
          <a:off x="638004" y="1435724"/>
          <a:ext cx="5418666" cy="2661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433830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809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Quadratic 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724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Bidirectional two-way 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47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MS-CGCA three-way (+ personalisation)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12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MS-CGCA two-way (deployed)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745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 alone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2831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8999EE-58CF-3E4C-5A0F-DBE2452B9C85}"/>
              </a:ext>
            </a:extLst>
          </p:cNvPr>
          <p:cNvSpPr txBox="1"/>
          <p:nvPr/>
        </p:nvSpPr>
        <p:spPr>
          <a:xfrm>
            <a:off x="560439" y="34136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C2B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evidence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3F6D2-FC41-2AED-F9D3-254E928F40EB}"/>
              </a:ext>
            </a:extLst>
          </p:cNvPr>
          <p:cNvSpPr txBox="1"/>
          <p:nvPr/>
        </p:nvSpPr>
        <p:spPr>
          <a:xfrm>
            <a:off x="638004" y="996268"/>
            <a:ext cx="8643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Cosinor</a:t>
            </a:r>
            <a:r>
              <a:rPr lang="en-US" dirty="0"/>
              <a:t>-Enhanced Multi-level Stress Inference from Wearable RR Intervals</a:t>
            </a: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D0ABCFC8-A2C3-50D1-AC28-E0AFEC318B53}"/>
              </a:ext>
            </a:extLst>
          </p:cNvPr>
          <p:cNvSpPr/>
          <p:nvPr/>
        </p:nvSpPr>
        <p:spPr>
          <a:xfrm>
            <a:off x="7454336" y="1435724"/>
            <a:ext cx="3654629" cy="2607310"/>
          </a:xfrm>
          <a:prstGeom prst="roundRect">
            <a:avLst>
              <a:gd name="adj" fmla="val 2195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928E2A9-83E3-0304-A7D3-B804B7D844E3}"/>
              </a:ext>
            </a:extLst>
          </p:cNvPr>
          <p:cNvSpPr txBox="1"/>
          <p:nvPr/>
        </p:nvSpPr>
        <p:spPr>
          <a:xfrm>
            <a:off x="7637216" y="1710044"/>
            <a:ext cx="32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</a:t>
            </a:r>
            <a:endParaRPr lang="en-US" sz="20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D71811D-7865-D9DE-A1BF-9CC16BF74366}"/>
              </a:ext>
            </a:extLst>
          </p:cNvPr>
          <p:cNvSpPr txBox="1"/>
          <p:nvPr/>
        </p:nvSpPr>
        <p:spPr>
          <a:xfrm>
            <a:off x="7637216" y="2389117"/>
            <a:ext cx="32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MS-CGCA two-way 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FE8E5B85-D3D7-7FE9-1CA7-C835108DD331}"/>
              </a:ext>
            </a:extLst>
          </p:cNvPr>
          <p:cNvSpPr/>
          <p:nvPr/>
        </p:nvSpPr>
        <p:spPr>
          <a:xfrm>
            <a:off x="560439" y="4591665"/>
            <a:ext cx="10618838" cy="1270067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  <p:txBody>
          <a:bodyPr/>
          <a:lstStyle/>
          <a:p>
            <a:r>
              <a:rPr lang="en-US" b="1" dirty="0"/>
              <a:t>Why?</a:t>
            </a:r>
          </a:p>
          <a:p>
            <a:r>
              <a:rPr lang="en-US" dirty="0"/>
              <a:t>The three-way ensemble's extra </a:t>
            </a:r>
            <a:r>
              <a:rPr lang="en-US" dirty="0" err="1"/>
              <a:t>personalisation</a:t>
            </a:r>
            <a:r>
              <a:rPr lang="en-US" dirty="0"/>
              <a:t> member added only +0.0066 macro-F1 at Wilcoxon p = 0.625 which is indistinguishable from seed noise, while requiring per-subject calibration buffers, runtime fine-tuning and a third artifact, so the two-way ships.</a:t>
            </a:r>
          </a:p>
        </p:txBody>
      </p:sp>
    </p:spTree>
    <p:extLst>
      <p:ext uri="{BB962C8B-B14F-4D97-AF65-F5344CB8AC3E}">
        <p14:creationId xmlns:p14="http://schemas.microsoft.com/office/powerpoint/2010/main" val="2794222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D51B4D-2270-C6C9-2D85-BA86152C8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407291"/>
            <a:ext cx="11950700" cy="5497318"/>
          </a:xfrm>
          <a:prstGeom prst="rect">
            <a:avLst/>
          </a:prstGeom>
          <a:noFill/>
        </p:spPr>
      </p:pic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40EB0FCA-7D99-57D3-D82A-D5E81962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4F6971D-F892-4C7C-A9D8-9FCB66510B25}" type="datetime1">
              <a:rPr lang="en-US" smtClean="0"/>
              <a:pPr>
                <a:spcAft>
                  <a:spcPts val="600"/>
                </a:spcAft>
              </a:pPr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67E3D-2C80-C720-4152-3C72F1ED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R26-DS-006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A551F1D-105B-129B-7A77-7108A838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3CF13BDB-8EED-4BF4-A7D7-62993DC78721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0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CCAA5-11C8-CE9D-552E-3DB87569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904D1-CC5D-0D33-DBB3-F2C51E9B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43591-33E8-F77E-7263-2F5F0C41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F7F6BD-48B7-EF80-D4B8-CA7E18949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75433"/>
              </p:ext>
            </p:extLst>
          </p:nvPr>
        </p:nvGraphicFramePr>
        <p:xfrm>
          <a:off x="696997" y="1365600"/>
          <a:ext cx="6583668" cy="4089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17">
                  <a:extLst>
                    <a:ext uri="{9D8B030D-6E8A-4147-A177-3AD203B41FA5}">
                      <a16:colId xmlns:a16="http://schemas.microsoft.com/office/drawing/2014/main" val="3243383060"/>
                    </a:ext>
                  </a:extLst>
                </a:gridCol>
                <a:gridCol w="1645917">
                  <a:extLst>
                    <a:ext uri="{9D8B030D-6E8A-4147-A177-3AD203B41FA5}">
                      <a16:colId xmlns:a16="http://schemas.microsoft.com/office/drawing/2014/main" val="2174255556"/>
                    </a:ext>
                  </a:extLst>
                </a:gridCol>
                <a:gridCol w="1645917">
                  <a:extLst>
                    <a:ext uri="{9D8B030D-6E8A-4147-A177-3AD203B41FA5}">
                      <a16:colId xmlns:a16="http://schemas.microsoft.com/office/drawing/2014/main" val="2019749886"/>
                    </a:ext>
                  </a:extLst>
                </a:gridCol>
                <a:gridCol w="1645917">
                  <a:extLst>
                    <a:ext uri="{9D8B030D-6E8A-4147-A177-3AD203B41FA5}">
                      <a16:colId xmlns:a16="http://schemas.microsoft.com/office/drawing/2014/main" val="6809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Model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Evaluation 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Accuracy /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724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wav2vec2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/>
                        <a:t>60.9%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Weak stress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66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Hand-crafted Audio Features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/>
                        <a:t>70.8%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Moderate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81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emotion2vec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/>
                        <a:t>84.7%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Best encoder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47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PP2 Fusion Model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Internal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F1 = 0.92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Learned emotion → stress 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12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Best Lab Model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Real Voices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38%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Poor real-world generalisation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745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Final Valence-Based Model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Real Voices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91.7%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Best real-voice performance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2831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A7FA40-8D76-1CF2-9B5F-49449BAFBE2F}"/>
              </a:ext>
            </a:extLst>
          </p:cNvPr>
          <p:cNvSpPr txBox="1"/>
          <p:nvPr/>
        </p:nvSpPr>
        <p:spPr>
          <a:xfrm>
            <a:off x="560439" y="34136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C2B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evidence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4F14D-70FB-6437-01A5-50860F09F6CF}"/>
              </a:ext>
            </a:extLst>
          </p:cNvPr>
          <p:cNvSpPr txBox="1"/>
          <p:nvPr/>
        </p:nvSpPr>
        <p:spPr>
          <a:xfrm>
            <a:off x="638004" y="996268"/>
            <a:ext cx="8643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Cosinor</a:t>
            </a:r>
            <a:r>
              <a:rPr lang="en-US" dirty="0"/>
              <a:t>-Enhanced Multi-level Stress Inference from Wearable RR Intervals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217E7DD-A3B1-5FCF-994D-DE64371D1959}"/>
              </a:ext>
            </a:extLst>
          </p:cNvPr>
          <p:cNvSpPr/>
          <p:nvPr/>
        </p:nvSpPr>
        <p:spPr>
          <a:xfrm>
            <a:off x="7454336" y="1435724"/>
            <a:ext cx="4462361" cy="4207992"/>
          </a:xfrm>
          <a:prstGeom prst="roundRect">
            <a:avLst>
              <a:gd name="adj" fmla="val 2195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88721955-3C39-89B8-5E25-BF4B9D929432}"/>
              </a:ext>
            </a:extLst>
          </p:cNvPr>
          <p:cNvSpPr txBox="1"/>
          <p:nvPr/>
        </p:nvSpPr>
        <p:spPr>
          <a:xfrm>
            <a:off x="7637216" y="1710044"/>
            <a:ext cx="32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53B4F24-7611-95E8-BA28-B67176890240}"/>
              </a:ext>
            </a:extLst>
          </p:cNvPr>
          <p:cNvSpPr txBox="1"/>
          <p:nvPr/>
        </p:nvSpPr>
        <p:spPr>
          <a:xfrm>
            <a:off x="7518855" y="1710044"/>
            <a:ext cx="32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 err="1">
                <a:solidFill>
                  <a:schemeClr val="bg2"/>
                </a:solidFill>
              </a:rPr>
              <a:t>fusion_meld_baseline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665AA-106A-85EF-D5AF-0CC0AE5B9CF5}"/>
              </a:ext>
            </a:extLst>
          </p:cNvPr>
          <p:cNvSpPr txBox="1"/>
          <p:nvPr/>
        </p:nvSpPr>
        <p:spPr>
          <a:xfrm>
            <a:off x="7907559" y="2601571"/>
            <a:ext cx="40204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Encoder:</a:t>
            </a:r>
            <a:r>
              <a:rPr lang="en-US" sz="1400" dirty="0">
                <a:solidFill>
                  <a:schemeClr val="bg2"/>
                </a:solidFill>
              </a:rPr>
              <a:t> emotion2vec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Input:</a:t>
            </a:r>
            <a:r>
              <a:rPr lang="en-US" sz="1400" dirty="0">
                <a:solidFill>
                  <a:schemeClr val="bg2"/>
                </a:solidFill>
              </a:rPr>
              <a:t> Voice/audio recording (~30 seconds)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Approach: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  <a:r>
              <a:rPr lang="en-US" sz="1400" b="1" dirty="0">
                <a:solidFill>
                  <a:schemeClr val="bg2"/>
                </a:solidFill>
              </a:rPr>
              <a:t>Valence-based stress estimation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Languages validated:</a:t>
            </a:r>
            <a:r>
              <a:rPr lang="en-US" sz="1400" dirty="0">
                <a:solidFill>
                  <a:schemeClr val="bg2"/>
                </a:solidFill>
              </a:rPr>
              <a:t> English and Sinhala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Real-voice accuracy: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  <a:r>
              <a:rPr lang="en-US" sz="1400" b="1" dirty="0">
                <a:solidFill>
                  <a:schemeClr val="bg2"/>
                </a:solidFill>
              </a:rPr>
              <a:t>91.7%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Role:</a:t>
            </a:r>
            <a:r>
              <a:rPr lang="en-US" sz="1400" dirty="0">
                <a:solidFill>
                  <a:schemeClr val="bg2"/>
                </a:solidFill>
              </a:rPr>
              <a:t> Compares </a:t>
            </a:r>
            <a:r>
              <a:rPr lang="en-US" sz="1400" b="1" dirty="0">
                <a:solidFill>
                  <a:schemeClr val="bg2"/>
                </a:solidFill>
              </a:rPr>
              <a:t>pre-VR vs. post-VR voice stress</a:t>
            </a:r>
            <a:r>
              <a:rPr lang="en-US" sz="1400" dirty="0">
                <a:solidFill>
                  <a:schemeClr val="bg2"/>
                </a:solidFill>
              </a:rPr>
              <a:t> to estimate whether the VR meditation session reduced stress.</a:t>
            </a:r>
          </a:p>
          <a:p>
            <a:endParaRPr lang="en-US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47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A77D3-80C7-9638-5D09-7DB68D00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971D-F892-4C7C-A9D8-9FCB66510B2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4EBE1-23A4-C39B-3AD5-EDE4C1B8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R26-DS-006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D1973-FC79-A84B-2B59-F4B150F3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3BDB-8EED-4BF4-A7D7-62993DC78721}" type="slidenum">
              <a:rPr lang="en-US" smtClean="0"/>
              <a:t>11</a:t>
            </a:fld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1127526-EE82-FAB3-94D9-B183C6367759}"/>
              </a:ext>
            </a:extLst>
          </p:cNvPr>
          <p:cNvSpPr txBox="1"/>
          <p:nvPr/>
        </p:nvSpPr>
        <p:spPr>
          <a:xfrm>
            <a:off x="640080" y="3840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Commercialization and demo</a:t>
            </a:r>
            <a:endParaRPr lang="en-US" sz="3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B48CAEE-21F7-EB56-D995-DAEED7BFE426}"/>
              </a:ext>
            </a:extLst>
          </p:cNvPr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A11BED8-0065-3699-E122-CD66A92F5BD9}"/>
              </a:ext>
            </a:extLst>
          </p:cNvPr>
          <p:cNvSpPr txBox="1"/>
          <p:nvPr/>
        </p:nvSpPr>
        <p:spPr>
          <a:xfrm>
            <a:off x="640080" y="145846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BFBD886-49B6-3086-AFAD-B28B45A406D1}"/>
              </a:ext>
            </a:extLst>
          </p:cNvPr>
          <p:cNvSpPr txBox="1"/>
          <p:nvPr/>
        </p:nvSpPr>
        <p:spPr>
          <a:xfrm>
            <a:off x="1207008" y="1380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</a:t>
            </a:r>
            <a:endParaRPr lang="en-US" sz="1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B57B651-9703-BCB2-86C1-D43FFD6AA171}"/>
              </a:ext>
            </a:extLst>
          </p:cNvPr>
          <p:cNvSpPr txBox="1"/>
          <p:nvPr/>
        </p:nvSpPr>
        <p:spPr>
          <a:xfrm>
            <a:off x="3520440" y="1344168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wellness platforms and corporate wellbeing programmes that need engagement past week one.</a:t>
            </a:r>
            <a:endParaRPr lang="en-US" sz="145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9B7564F5-5C6F-3744-5C2C-3E33C4EFDF1B}"/>
              </a:ext>
            </a:extLst>
          </p:cNvPr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302B7D9-D7AA-CDE4-F744-6A0D6E168AEE}"/>
              </a:ext>
            </a:extLst>
          </p:cNvPr>
          <p:cNvSpPr txBox="1"/>
          <p:nvPr/>
        </p:nvSpPr>
        <p:spPr>
          <a:xfrm>
            <a:off x="640080" y="269290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89ABB04C-CC67-5F3A-1944-BBABE249FEFB}"/>
              </a:ext>
            </a:extLst>
          </p:cNvPr>
          <p:cNvSpPr txBox="1"/>
          <p:nvPr/>
        </p:nvSpPr>
        <p:spPr>
          <a:xfrm>
            <a:off x="1207008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adopt</a:t>
            </a:r>
            <a:endParaRPr lang="en-US" sz="18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E0E8D9E-5EC8-9530-04D5-B4DFCF984B52}"/>
              </a:ext>
            </a:extLst>
          </p:cNvPr>
          <p:cNvSpPr txBox="1"/>
          <p:nvPr/>
        </p:nvSpPr>
        <p:spPr>
          <a:xfrm>
            <a:off x="3520440" y="2578608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 is productive in 45 seconds, not after days of baselining — and the system reports its own uncertainty, so it never adapts confidently to a guess.</a:t>
            </a:r>
            <a:endParaRPr lang="en-US" sz="14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220F424B-6AA9-BFE4-F9A8-538140E9080F}"/>
              </a:ext>
            </a:extLst>
          </p:cNvPr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5607DFA2-1E0C-7F69-8E4F-4579CE0D6D4C}"/>
              </a:ext>
            </a:extLst>
          </p:cNvPr>
          <p:cNvSpPr txBox="1"/>
          <p:nvPr/>
        </p:nvSpPr>
        <p:spPr>
          <a:xfrm>
            <a:off x="640080" y="392734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B734E75-79A4-7386-CE89-72E320D44A45}"/>
              </a:ext>
            </a:extLst>
          </p:cNvPr>
          <p:cNvSpPr txBox="1"/>
          <p:nvPr/>
        </p:nvSpPr>
        <p:spPr>
          <a:xfrm>
            <a:off x="1207008" y="3849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ships</a:t>
            </a:r>
            <a:endParaRPr lang="en-US" sz="18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3AED7F5C-30FD-8499-C9CB-92159EE11C54}"/>
              </a:ext>
            </a:extLst>
          </p:cNvPr>
          <p:cNvSpPr txBox="1"/>
          <p:nvPr/>
        </p:nvSpPr>
        <p:spPr>
          <a:xfrm>
            <a:off x="3520440" y="3813048"/>
            <a:ext cx="8001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SDK. The backend already runs as a WebSocket service, so the delivery form matches the architecture.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873142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53E1-2B0B-E119-3C61-D16EF105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FFBDD02-FDC6-F823-29E2-E357AFAB0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213BE-038D-08C2-EE79-08082596E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0072" y="6359814"/>
            <a:ext cx="107372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E1AE406-700D-482C-9CD7-43BC733557BA}" type="datetime1">
              <a:rPr lang="en-US" sz="1500" smtClean="0"/>
              <a:pPr>
                <a:spcAft>
                  <a:spcPts val="600"/>
                </a:spcAft>
              </a:pPr>
              <a:t>10/11/2026</a:t>
            </a:fld>
            <a:endParaRPr lang="en-US" sz="15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72124-6B42-269D-8830-D4308719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/>
              <a:t>R26-DS-006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9D264-4CBA-D5F7-A48F-1A05D360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109" y="6376987"/>
            <a:ext cx="4087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F13BDB-8EED-4BF4-A7D7-62993DC78721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4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117</TotalTime>
  <Words>1124</Words>
  <Application>Microsoft Office PowerPoint</Application>
  <PresentationFormat>Widescreen</PresentationFormat>
  <Paragraphs>212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</vt:lpstr>
      <vt:lpstr>Office Theme</vt:lpstr>
      <vt:lpstr>AI-Based VR Meditation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PERERA B.D.P.D. it22191038</dc:creator>
  <cp:lastModifiedBy>PERERA B.D.P.D. it22191038</cp:lastModifiedBy>
  <cp:revision>2</cp:revision>
  <dcterms:created xsi:type="dcterms:W3CDTF">2026-08-31T18:34:52Z</dcterms:created>
  <dcterms:modified xsi:type="dcterms:W3CDTF">2026-10-11T16:08:43Z</dcterms:modified>
</cp:coreProperties>
</file>
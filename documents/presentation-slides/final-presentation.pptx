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System summary based on the supplied template and repository architecture. Component C: docs/research/COMPONENT_C_FINAL_VIVA_PREPARATION.md. Component E: docs/architecture/COMPONENT_E_AUDIO_RL_AGENT.md.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docs/research/COMPONENT_C_FINAL_VIVA_PREPARATION.md; analysis/component-c-bandit-evaluation/longitudinal/reports/20261019T162847Z-longitudinal-full/report.md. Regret values are synthetic held-out probe results after session 20, not participant outcomes. Current Quest production resets the model each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docs/architecture/COMPONENT_E_AUDIO_RL_AGENT.md; docs/validation/COMPONENT_E_ONLINE_AUDIO_VALIDATION.md. Audio and visual controllers have separate policies and rewards. Headset and human outcomes have not been established.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supplied slides 3–4 for wearable and voice figures; docs/research/COMPONENT_C_FINAL_VIVA_PREPARATION.md; docs/validation/COMPONENT_E_ONLINE_AUDIO_VALIDATION.md. Do not present simulation or software checks as evidence of clinical efficacy or user acceptance.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roject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91E99-B89A-4EF8-B2A9-8B73AB797C0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762000"/>
            <a:ext cx="10363200" cy="1470025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t>Add the Project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A63378-C41E-464A-8F5D-DAAD92D30FA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28800" y="25146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Project ID</a:t>
            </a:r>
          </a:p>
        </p:txBody>
      </p:sp>
      <p:pic>
        <p:nvPicPr>
          <p:cNvPr id="7" name="Picture 19"/>
          <p:cNvPicPr>
            <a:picLocks noChangeAspect="1"/>
          </p:cNvPicPr>
          <p:nvPr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37BAD-45C4-458A-8782-D21D55ED66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71CA73-C1A2-425F-80AC-B4EACD6D27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pic>
        <p:nvPicPr>
          <p:cNvPr id="7" name="Picture 19"/>
          <p:cNvPicPr>
            <a:picLocks noChangeAspect="1"/>
          </p:cNvPicPr>
          <p:nvPr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dividua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EC56D-F098-4559-8818-CCD6EFB44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AB5BA-0C3D-4B02-B399-30FCA4D25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2" name="二等辺三角形 9">
            <a:extLst>
              <a:ext uri="{FF2B5EF4-FFF2-40B4-BE49-F238E27FC236}">
                <a16:creationId xmlns:a16="http://schemas.microsoft.com/office/drawing/2014/main" id="{46C9E992-6040-44A1-A83F-9535B84B8599}"/>
              </a:ext>
            </a:extLst>
          </p:cNvPr>
          <p:cNvSpPr>
            <a:spLocks noGrp="1"/>
          </p:cNvSpPr>
          <p:nvPr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13" name="二等辺三角形 10">
            <a:extLst>
              <a:ext uri="{FF2B5EF4-FFF2-40B4-BE49-F238E27FC236}">
                <a16:creationId xmlns:a16="http://schemas.microsoft.com/office/drawing/2014/main" id="{CDBF451F-EAED-476D-8E5B-B56A8029ACC0}"/>
              </a:ext>
            </a:extLst>
          </p:cNvPr>
          <p:cNvSpPr>
            <a:spLocks noGrp="1"/>
          </p:cNvSpPr>
          <p:nvPr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al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43DBF-A75F-4A05-AFD5-B7D6FD403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957C8-2BFA-491F-AB73-9D2FCBCAB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2B5A3-BC00-48ED-BA40-FF6DBB1024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C64A8B-2100-4133-A7EF-3BBFA19FFEB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Section Sub-Titles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C29E58-4878-471A-A8CF-FA8607A4052E}"/>
              </a:ext>
            </a:extLst>
          </p:cNvPr>
          <p:cNvSpPr>
            <a:spLocks noGrp="1"/>
          </p:cNvSpPr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sz="1800" b="1">
                <a:solidFill>
                  <a:schemeClr val="tx1"/>
                </a:solidFill>
              </a:rPr>
              <a:t>ITXXXXXXXX</a:t>
            </a:r>
            <a:r>
              <a:rPr sz="1800">
                <a:solidFill>
                  <a:schemeClr val="tx1"/>
                </a:solidFill>
              </a:rPr>
              <a:t>   |   &lt;</a:t>
            </a:r>
            <a:r>
              <a:rPr sz="1800" b="1">
                <a:solidFill>
                  <a:schemeClr val="tx1"/>
                </a:solidFill>
              </a:rPr>
              <a:t>&lt;Student Name&gt;&gt;   </a:t>
            </a:r>
            <a:r>
              <a:rPr sz="1800">
                <a:solidFill>
                  <a:schemeClr val="tx1"/>
                </a:solidFill>
              </a:rPr>
              <a:t>|   </a:t>
            </a:r>
            <a:r>
              <a:rPr sz="1800" b="0">
                <a:solidFill>
                  <a:schemeClr val="tx1"/>
                </a:solidFill>
              </a:rPr>
              <a:t>&lt;&lt;Project ID&gt;&gt;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tudent Information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0A878-7931-408C-9334-4B427DFEF6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Student IT Number | Student Name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2099A6-7FEE-4B3A-8B0B-86BA40B4470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Student’s Specialization</a:t>
            </a:r>
          </a:p>
        </p:txBody>
      </p:sp>
      <p:sp>
        <p:nvSpPr>
          <p:cNvPr id="13" name="二等辺三角形 10">
            <a:extLst>
              <a:ext uri="{FF2B5EF4-FFF2-40B4-BE49-F238E27FC236}">
                <a16:creationId xmlns:a16="http://schemas.microsoft.com/office/drawing/2014/main" id="{30FB7712-440F-4437-9436-180AD2EBAD77}"/>
              </a:ext>
            </a:extLst>
          </p:cNvPr>
          <p:cNvSpPr>
            <a:spLocks noGrp="1"/>
          </p:cNvSpPr>
          <p:nvPr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8789F7-2DE1-4BD0-98A0-4D627E8C7924}"/>
              </a:ext>
            </a:extLst>
          </p:cNvPr>
          <p:cNvSpPr>
            <a:spLocks noGrp="1"/>
          </p:cNvSpPr>
          <p:nvPr/>
        </p:nvSpPr>
        <p:spPr>
          <a:xfrm>
            <a:off x="10134600" y="152400"/>
            <a:ext cx="1981200" cy="2286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t>Student Must add a professional photo to this cage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28B69-0785-4951-80AD-A1DFF036F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1C034-0DEE-43EA-A7ED-F68884762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0184E1-B18C-427D-96D7-D469EE9659A6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CD37E-8DF8-41DA-868F-86DA58A68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F2DD95-1693-4BEE-9B6E-3312B4248F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85C63D-C33C-4B40-BF1E-2D9F996684B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B21EDD-EDD5-49E1-946D-DCEA6E446F0D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B360FA-5DF9-4815-8DF0-3D8547897CB4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CF0D0-2C05-4CCC-A260-DA5645A9C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二等辺三角形 9">
            <a:extLst>
              <a:ext uri="{FF2B5EF4-FFF2-40B4-BE49-F238E27FC236}">
                <a16:creationId xmlns:a16="http://schemas.microsoft.com/office/drawing/2014/main" id="{19E4A4CB-29FC-44CA-A93F-FD57FC14E401}"/>
              </a:ext>
            </a:extLst>
          </p:cNvPr>
          <p:cNvSpPr>
            <a:spLocks noGrp="1"/>
          </p:cNvSpPr>
          <p:nvPr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11" name="二等辺三角形 10">
            <a:extLst>
              <a:ext uri="{FF2B5EF4-FFF2-40B4-BE49-F238E27FC236}">
                <a16:creationId xmlns:a16="http://schemas.microsoft.com/office/drawing/2014/main" id="{BEBB24AA-4014-4394-8738-45B5EB321F99}"/>
              </a:ext>
            </a:extLst>
          </p:cNvPr>
          <p:cNvSpPr>
            <a:spLocks noGrp="1"/>
          </p:cNvSpPr>
          <p:nvPr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75490AD-C6C9-4021-8C34-1F6444AB48BF}"/>
              </a:ext>
            </a:extLst>
          </p:cNvPr>
          <p:cNvSpPr>
            <a:spLocks noGrp="1"/>
          </p:cNvSpPr>
          <p:nvPr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marL="0" algn="l" defTabSz="914400">
              <a:buNone/>
              <a:defRPr sz="1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fld id="{B7D6051F-EF20-4D26-A49B-A9D5F0B34CE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21F87-5FEE-4DC6-BC84-029C76B1F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2BA26-FB5A-4FE2-8FE7-CB9FCCA6E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80CF94-F88D-44F1-BFBE-37A30915F45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12" name="二等辺三角形 11">
            <a:extLst>
              <a:ext uri="{FF2B5EF4-FFF2-40B4-BE49-F238E27FC236}">
                <a16:creationId xmlns:a16="http://schemas.microsoft.com/office/drawing/2014/main" id="{FB3C3CAC-B5A5-4E31-8671-EFFD090560BD}"/>
              </a:ext>
            </a:extLst>
          </p:cNvPr>
          <p:cNvSpPr>
            <a:spLocks noGrp="1"/>
          </p:cNvSpPr>
          <p:nvPr/>
        </p:nvSpPr>
        <p:spPr>
          <a:xfrm>
            <a:off x="0" y="6406010"/>
            <a:ext cx="12192000" cy="452885"/>
          </a:xfrm>
          <a:prstGeom prst="triangle">
            <a:avLst>
              <a:gd name="adj" fmla="val 85448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13" name="二等辺三角形 9">
            <a:extLst>
              <a:ext uri="{FF2B5EF4-FFF2-40B4-BE49-F238E27FC236}">
                <a16:creationId xmlns:a16="http://schemas.microsoft.com/office/drawing/2014/main" id="{B02C1492-4BD6-4C0D-BBB4-91D4C9720904}"/>
              </a:ext>
            </a:extLst>
          </p:cNvPr>
          <p:cNvSpPr>
            <a:spLocks noGrp="1"/>
          </p:cNvSpPr>
          <p:nvPr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14" name="二等辺三角形 10">
            <a:extLst>
              <a:ext uri="{FF2B5EF4-FFF2-40B4-BE49-F238E27FC236}">
                <a16:creationId xmlns:a16="http://schemas.microsoft.com/office/drawing/2014/main" id="{CC455F0C-0A31-434C-9404-220CA73AA34D}"/>
              </a:ext>
            </a:extLst>
          </p:cNvPr>
          <p:cNvSpPr>
            <a:spLocks noGrp="1"/>
          </p:cNvSpPr>
          <p:nvPr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3E892-ADB3-4F5F-BA72-8B00B5061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02621E-F292-4413-9625-C9815A4537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64305D-8746-49AE-AAE2-66B8DC68801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14" name="二等辺三角形 10">
            <a:extLst>
              <a:ext uri="{FF2B5EF4-FFF2-40B4-BE49-F238E27FC236}">
                <a16:creationId xmlns:a16="http://schemas.microsoft.com/office/drawing/2014/main" id="{44DF0649-15C6-446A-8AAB-21250D8FAB2C}"/>
              </a:ext>
            </a:extLst>
          </p:cNvPr>
          <p:cNvSpPr>
            <a:spLocks noGrp="1"/>
          </p:cNvSpPr>
          <p:nvPr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DE6B8-0243-48D3-B32E-5E204B361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3CD015-52DB-4745-8F6A-A7EBAE1EC3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3" name="二等辺三角形 10">
            <a:extLst>
              <a:ext uri="{FF2B5EF4-FFF2-40B4-BE49-F238E27FC236}">
                <a16:creationId xmlns:a16="http://schemas.microsoft.com/office/drawing/2014/main" id="{554084AE-0B39-4F55-9C43-D9F41065DAA1}"/>
              </a:ext>
            </a:extLst>
          </p:cNvPr>
          <p:cNvSpPr>
            <a:spLocks noGrp="1"/>
          </p:cNvSpPr>
          <p:nvPr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C21256-781B-4BF7-B376-61A4AFF14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1A0B02-BFB8-4FB1-B7C2-28EDBA1EF2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2" name="二等辺三角形 9">
            <a:extLst>
              <a:ext uri="{FF2B5EF4-FFF2-40B4-BE49-F238E27FC236}">
                <a16:creationId xmlns:a16="http://schemas.microsoft.com/office/drawing/2014/main" id="{0FE07619-FE50-4EF4-9ED4-80C77E319533}"/>
              </a:ext>
            </a:extLst>
          </p:cNvPr>
          <p:cNvSpPr>
            <a:spLocks noGrp="1"/>
          </p:cNvSpPr>
          <p:nvPr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13" name="二等辺三角形 10">
            <a:extLst>
              <a:ext uri="{FF2B5EF4-FFF2-40B4-BE49-F238E27FC236}">
                <a16:creationId xmlns:a16="http://schemas.microsoft.com/office/drawing/2014/main" id="{EB95F1CD-1098-4E3D-8A13-DD3F00BFCB68}"/>
              </a:ext>
            </a:extLst>
          </p:cNvPr>
          <p:cNvSpPr>
            <a:spLocks noGrp="1"/>
          </p:cNvSpPr>
          <p:nvPr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0D8CEE-B4FD-4CCC-A888-A18BCDD93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04800"/>
            <a:ext cx="11684000" cy="792162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7FED40-59EB-490A-84B3-52EA74208E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1143000"/>
            <a:ext cx="11684000" cy="518160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064364F-1F37-4C7B-B31F-2D4F671B2CB9}"/>
              </a:ext>
            </a:extLst>
          </p:cNvPr>
          <p:cNvSpPr>
            <a:spLocks noGrp="1"/>
          </p:cNvSpPr>
          <p:nvPr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marL="0" algn="l" defTabSz="914400">
              <a:buNone/>
              <a:defRPr sz="1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fld id="{B7D6051F-EF20-4D26-A49B-A9D5F0B34CE8}" type="slidenum">
              <a:t>‹#›</a:t>
            </a:fld>
            <a:endParaRPr/>
          </a:p>
        </p:txBody>
      </p:sp>
      <p:pic>
        <p:nvPicPr>
          <p:cNvPr id="13" name="Picture 6"/>
          <p:cNvPicPr>
            <a:picLocks noChangeAspect="1"/>
          </p:cNvPicPr>
          <p:nvPr/>
        </p:nvPicPr>
        <p:blipFill rotWithShape="1">
          <a:blip r:embed="rId16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6EC11E-4ADA-413C-92B1-C0871F068AF1}"/>
              </a:ext>
            </a:extLst>
          </p:cNvPr>
          <p:cNvSpPr>
            <a:spLocks noGrp="1"/>
          </p:cNvSpPr>
          <p:nvPr/>
        </p:nvSpPr>
        <p:spPr>
          <a:xfrm>
            <a:off x="10287000" y="6536937"/>
            <a:ext cx="1066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98C4007C-554A-4B16-A31C-089CB53EF86F}" type="datetime1">
              <a:rPr sz="1200" b="1"/>
              <a:t>10/20/2026</a:t>
            </a:fld>
            <a:endParaRPr sz="1200" b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Adobe Devanagari"/>
          <a:ea typeface="Adobe Devanagari"/>
          <a:cs typeface="Adobe Devanagari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Wingdings"/>
        <a:buChar char="Ø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Wingdings"/>
        <a:buChar char="§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4EEE3D2-5D0F-2E2D-BB44-AD53536E9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83059"/>
            <a:ext cx="11684000" cy="792162"/>
          </a:xfrm>
        </p:spPr>
        <p:txBody>
          <a:bodyPr>
            <a:normAutofit/>
          </a:bodyPr>
          <a:lstStyle/>
          <a:p>
            <a:r>
              <a:t>AI-Based Adaptive VR Meditation System</a:t>
            </a:r>
          </a:p>
        </p:txBody>
      </p:sp>
      <p:graphicFrame>
        <p:nvGraphicFramePr>
          <p:cNvPr id="9" name="Content Placeholder 2"/>
          <p:cNvGraphicFramePr/>
          <p:nvPr/>
        </p:nvGraphicFramePr>
        <p:xfrm>
          <a:off x="254000" y="2057399"/>
          <a:ext cx="11684001" cy="192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4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94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94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t>PP2 Comments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Action Taken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Evidence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Did not show the demo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Live demo + Screen recorded VR session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Video will be shown during the demo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Validate sensor outputs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Validated sensor readings using medical grade equipment as reference devices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Sensor reading validation letter obtained from a medical professional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2671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15833B6-0FFE-E7A7-82EB-A2E57F066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83059"/>
            <a:ext cx="11684000" cy="792162"/>
          </a:xfrm>
        </p:spPr>
        <p:txBody>
          <a:bodyPr>
            <a:normAutofit/>
          </a:bodyPr>
          <a:lstStyle/>
          <a:p>
            <a:r>
              <a:t>AI-Based Adaptive Meditation System</a:t>
            </a:r>
          </a:p>
        </p:txBody>
      </p:sp>
      <p:sp>
        <p:nvSpPr>
          <p:cNvPr id="7" name="problem-heading">
            <a:extLst>
              <a:ext uri="{FF2B5EF4-FFF2-40B4-BE49-F238E27FC236}">
                <a16:creationId xmlns:a16="http://schemas.microsoft.com/office/drawing/2014/main" id="{B2102AC3-6A3C-4265-AEE0-0314B699FBD7}"/>
              </a:ext>
            </a:extLst>
          </p:cNvPr>
          <p:cNvSpPr>
            <a:spLocks noGrp="1"/>
          </p:cNvSpPr>
          <p:nvPr/>
        </p:nvSpPr>
        <p:spPr>
          <a:xfrm>
            <a:off x="1695450" y="2190750"/>
            <a:ext cx="9429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2625" b="1">
                <a:solidFill>
                  <a:srgbClr val="000000"/>
                </a:solidFill>
              </a:defRPr>
            </a:lvl1pPr>
            <a:lvl2pPr algn="l">
              <a:buNone/>
              <a:defRPr sz="2625" b="1">
                <a:solidFill>
                  <a:srgbClr val="000000"/>
                </a:solidFill>
              </a:defRPr>
            </a:lvl2pPr>
            <a:lvl3pPr algn="l">
              <a:buNone/>
              <a:defRPr sz="2625" b="1">
                <a:solidFill>
                  <a:srgbClr val="000000"/>
                </a:solidFill>
              </a:defRPr>
            </a:lvl3pPr>
            <a:lvl4pPr algn="l">
              <a:buNone/>
              <a:defRPr sz="2625" b="1">
                <a:solidFill>
                  <a:srgbClr val="000000"/>
                </a:solidFill>
              </a:defRPr>
            </a:lvl4pPr>
            <a:lvl5pPr algn="l">
              <a:buNone/>
              <a:defRPr sz="2625" b="1">
                <a:solidFill>
                  <a:srgbClr val="000000"/>
                </a:solidFill>
              </a:defRPr>
            </a:lvl5pPr>
            <a:lvl6pPr algn="l">
              <a:buNone/>
              <a:defRPr sz="2625" b="1">
                <a:solidFill>
                  <a:srgbClr val="000000"/>
                </a:solidFill>
              </a:defRPr>
            </a:lvl6pPr>
            <a:lvl7pPr algn="l">
              <a:buNone/>
              <a:defRPr sz="2625" b="1">
                <a:solidFill>
                  <a:srgbClr val="000000"/>
                </a:solidFill>
              </a:defRPr>
            </a:lvl7pPr>
            <a:lvl8pPr algn="l">
              <a:buNone/>
              <a:defRPr sz="2625" b="1">
                <a:solidFill>
                  <a:srgbClr val="000000"/>
                </a:solidFill>
              </a:defRPr>
            </a:lvl8pPr>
            <a:lvl9pPr algn="l">
              <a:buNone/>
              <a:defRPr sz="2625" b="1">
                <a:solidFill>
                  <a:srgbClr val="000000"/>
                </a:solidFill>
              </a:defRPr>
            </a:lvl9pPr>
          </a:lstStyle>
          <a:p>
            <a:pPr algn="l">
              <a:buNone/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Problem</a:t>
            </a:r>
          </a:p>
        </p:txBody>
      </p:sp>
      <p:sp>
        <p:nvSpPr>
          <p:cNvPr id="8" name="problem">
            <a:extLst>
              <a:ext uri="{FF2B5EF4-FFF2-40B4-BE49-F238E27FC236}">
                <a16:creationId xmlns:a16="http://schemas.microsoft.com/office/drawing/2014/main" id="{C287A5D6-20F2-4F7C-8C73-D3B2DDCBD405}"/>
              </a:ext>
            </a:extLst>
          </p:cNvPr>
          <p:cNvSpPr>
            <a:spLocks noGrp="1"/>
          </p:cNvSpPr>
          <p:nvPr/>
        </p:nvSpPr>
        <p:spPr>
          <a:xfrm>
            <a:off x="1695450" y="2705100"/>
            <a:ext cx="9525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2175" b="0">
                <a:solidFill>
                  <a:srgbClr val="000000"/>
                </a:solidFill>
              </a:defRPr>
            </a:lvl1pPr>
            <a:lvl2pPr algn="l">
              <a:buNone/>
              <a:defRPr sz="2175" b="0">
                <a:solidFill>
                  <a:srgbClr val="000000"/>
                </a:solidFill>
              </a:defRPr>
            </a:lvl2pPr>
            <a:lvl3pPr algn="l">
              <a:buNone/>
              <a:defRPr sz="2175" b="0">
                <a:solidFill>
                  <a:srgbClr val="000000"/>
                </a:solidFill>
              </a:defRPr>
            </a:lvl3pPr>
            <a:lvl4pPr algn="l">
              <a:buNone/>
              <a:defRPr sz="2175" b="0">
                <a:solidFill>
                  <a:srgbClr val="000000"/>
                </a:solidFill>
              </a:defRPr>
            </a:lvl4pPr>
            <a:lvl5pPr algn="l">
              <a:buNone/>
              <a:defRPr sz="2175" b="0">
                <a:solidFill>
                  <a:srgbClr val="000000"/>
                </a:solidFill>
              </a:defRPr>
            </a:lvl5pPr>
            <a:lvl6pPr algn="l">
              <a:buNone/>
              <a:defRPr sz="2175" b="0">
                <a:solidFill>
                  <a:srgbClr val="000000"/>
                </a:solidFill>
              </a:defRPr>
            </a:lvl6pPr>
            <a:lvl7pPr algn="l">
              <a:buNone/>
              <a:defRPr sz="2175" b="0">
                <a:solidFill>
                  <a:srgbClr val="000000"/>
                </a:solidFill>
              </a:defRPr>
            </a:lvl7pPr>
            <a:lvl8pPr algn="l">
              <a:buNone/>
              <a:defRPr sz="2175" b="0">
                <a:solidFill>
                  <a:srgbClr val="000000"/>
                </a:solidFill>
              </a:defRPr>
            </a:lvl8pPr>
            <a:lvl9pPr algn="l">
              <a:buNone/>
              <a:defRPr sz="2175" b="0">
                <a:solidFill>
                  <a:srgbClr val="000000"/>
                </a:solidFill>
              </a:defRPr>
            </a:lvl9pPr>
          </a:lstStyle>
          <a:p>
            <a:pPr algn="l">
              <a:buNone/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Fixed meditation scenes do not respond to personal preferences or changing stress.</a:t>
            </a:r>
          </a:p>
        </p:txBody>
      </p:sp>
      <p:sp>
        <p:nvSpPr>
          <p:cNvPr id="9" name="advantage-heading">
            <a:extLst>
              <a:ext uri="{FF2B5EF4-FFF2-40B4-BE49-F238E27FC236}">
                <a16:creationId xmlns:a16="http://schemas.microsoft.com/office/drawing/2014/main" id="{C6E4CE95-C2DF-4939-94B0-36126CA2D875}"/>
              </a:ext>
            </a:extLst>
          </p:cNvPr>
          <p:cNvSpPr>
            <a:spLocks noGrp="1"/>
          </p:cNvSpPr>
          <p:nvPr/>
        </p:nvSpPr>
        <p:spPr>
          <a:xfrm>
            <a:off x="1695450" y="3619500"/>
            <a:ext cx="9429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2625" b="1">
                <a:solidFill>
                  <a:srgbClr val="000000"/>
                </a:solidFill>
              </a:defRPr>
            </a:lvl1pPr>
            <a:lvl2pPr algn="l">
              <a:buNone/>
              <a:defRPr sz="2625" b="1">
                <a:solidFill>
                  <a:srgbClr val="000000"/>
                </a:solidFill>
              </a:defRPr>
            </a:lvl2pPr>
            <a:lvl3pPr algn="l">
              <a:buNone/>
              <a:defRPr sz="2625" b="1">
                <a:solidFill>
                  <a:srgbClr val="000000"/>
                </a:solidFill>
              </a:defRPr>
            </a:lvl3pPr>
            <a:lvl4pPr algn="l">
              <a:buNone/>
              <a:defRPr sz="2625" b="1">
                <a:solidFill>
                  <a:srgbClr val="000000"/>
                </a:solidFill>
              </a:defRPr>
            </a:lvl4pPr>
            <a:lvl5pPr algn="l">
              <a:buNone/>
              <a:defRPr sz="2625" b="1">
                <a:solidFill>
                  <a:srgbClr val="000000"/>
                </a:solidFill>
              </a:defRPr>
            </a:lvl5pPr>
            <a:lvl6pPr algn="l">
              <a:buNone/>
              <a:defRPr sz="2625" b="1">
                <a:solidFill>
                  <a:srgbClr val="000000"/>
                </a:solidFill>
              </a:defRPr>
            </a:lvl6pPr>
            <a:lvl7pPr algn="l">
              <a:buNone/>
              <a:defRPr sz="2625" b="1">
                <a:solidFill>
                  <a:srgbClr val="000000"/>
                </a:solidFill>
              </a:defRPr>
            </a:lvl7pPr>
            <a:lvl8pPr algn="l">
              <a:buNone/>
              <a:defRPr sz="2625" b="1">
                <a:solidFill>
                  <a:srgbClr val="000000"/>
                </a:solidFill>
              </a:defRPr>
            </a:lvl8pPr>
            <a:lvl9pPr algn="l">
              <a:buNone/>
              <a:defRPr sz="2625" b="1">
                <a:solidFill>
                  <a:srgbClr val="000000"/>
                </a:solidFill>
              </a:defRPr>
            </a:lvl9pPr>
          </a:lstStyle>
          <a:p>
            <a:pPr algn="l">
              <a:buNone/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Design advantage</a:t>
            </a:r>
          </a:p>
        </p:txBody>
      </p:sp>
      <p:sp>
        <p:nvSpPr>
          <p:cNvPr id="10" name="advantage-1">
            <a:extLst>
              <a:ext uri="{FF2B5EF4-FFF2-40B4-BE49-F238E27FC236}">
                <a16:creationId xmlns:a16="http://schemas.microsoft.com/office/drawing/2014/main" id="{7ED3F221-6626-4A2E-8244-2071C9C855DE}"/>
              </a:ext>
            </a:extLst>
          </p:cNvPr>
          <p:cNvSpPr>
            <a:spLocks noGrp="1"/>
          </p:cNvSpPr>
          <p:nvPr/>
        </p:nvSpPr>
        <p:spPr>
          <a:xfrm>
            <a:off x="1695450" y="4133850"/>
            <a:ext cx="9620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2175" b="0">
                <a:solidFill>
                  <a:srgbClr val="000000"/>
                </a:solidFill>
              </a:defRPr>
            </a:lvl1pPr>
            <a:lvl2pPr algn="l">
              <a:buNone/>
              <a:defRPr sz="2175" b="0">
                <a:solidFill>
                  <a:srgbClr val="000000"/>
                </a:solidFill>
              </a:defRPr>
            </a:lvl2pPr>
            <a:lvl3pPr algn="l">
              <a:buNone/>
              <a:defRPr sz="2175" b="0">
                <a:solidFill>
                  <a:srgbClr val="000000"/>
                </a:solidFill>
              </a:defRPr>
            </a:lvl3pPr>
            <a:lvl4pPr algn="l">
              <a:buNone/>
              <a:defRPr sz="2175" b="0">
                <a:solidFill>
                  <a:srgbClr val="000000"/>
                </a:solidFill>
              </a:defRPr>
            </a:lvl4pPr>
            <a:lvl5pPr algn="l">
              <a:buNone/>
              <a:defRPr sz="2175" b="0">
                <a:solidFill>
                  <a:srgbClr val="000000"/>
                </a:solidFill>
              </a:defRPr>
            </a:lvl5pPr>
            <a:lvl6pPr algn="l">
              <a:buNone/>
              <a:defRPr sz="2175" b="0">
                <a:solidFill>
                  <a:srgbClr val="000000"/>
                </a:solidFill>
              </a:defRPr>
            </a:lvl6pPr>
            <a:lvl7pPr algn="l">
              <a:buNone/>
              <a:defRPr sz="2175" b="0">
                <a:solidFill>
                  <a:srgbClr val="000000"/>
                </a:solidFill>
              </a:defRPr>
            </a:lvl7pPr>
            <a:lvl8pPr algn="l">
              <a:buNone/>
              <a:defRPr sz="2175" b="0">
                <a:solidFill>
                  <a:srgbClr val="000000"/>
                </a:solidFill>
              </a:defRPr>
            </a:lvl8pPr>
            <a:lvl9pPr algn="l">
              <a:buNone/>
              <a:defRPr sz="2175" b="0">
                <a:solidFill>
                  <a:srgbClr val="000000"/>
                </a:solidFill>
              </a:defRPr>
            </a:lvl9pPr>
          </a:lstStyle>
          <a:p>
            <a:pPr algn="l">
              <a:buNone/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Wearable stress estimates guide small, safe changes to visuals and music.</a:t>
            </a:r>
          </a:p>
        </p:txBody>
      </p:sp>
      <p:sp>
        <p:nvSpPr>
          <p:cNvPr id="11" name="advantage-2">
            <a:extLst>
              <a:ext uri="{FF2B5EF4-FFF2-40B4-BE49-F238E27FC236}">
                <a16:creationId xmlns:a16="http://schemas.microsoft.com/office/drawing/2014/main" id="{7E467FBB-9D92-46BF-BA28-B6475137171D}"/>
              </a:ext>
            </a:extLst>
          </p:cNvPr>
          <p:cNvSpPr>
            <a:spLocks noGrp="1"/>
          </p:cNvSpPr>
          <p:nvPr/>
        </p:nvSpPr>
        <p:spPr>
          <a:xfrm>
            <a:off x="1695450" y="4857750"/>
            <a:ext cx="9620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2175" b="0">
                <a:solidFill>
                  <a:srgbClr val="000000"/>
                </a:solidFill>
              </a:defRPr>
            </a:lvl1pPr>
            <a:lvl2pPr algn="l">
              <a:buNone/>
              <a:defRPr sz="2175" b="0">
                <a:solidFill>
                  <a:srgbClr val="000000"/>
                </a:solidFill>
              </a:defRPr>
            </a:lvl2pPr>
            <a:lvl3pPr algn="l">
              <a:buNone/>
              <a:defRPr sz="2175" b="0">
                <a:solidFill>
                  <a:srgbClr val="000000"/>
                </a:solidFill>
              </a:defRPr>
            </a:lvl3pPr>
            <a:lvl4pPr algn="l">
              <a:buNone/>
              <a:defRPr sz="2175" b="0">
                <a:solidFill>
                  <a:srgbClr val="000000"/>
                </a:solidFill>
              </a:defRPr>
            </a:lvl4pPr>
            <a:lvl5pPr algn="l">
              <a:buNone/>
              <a:defRPr sz="2175" b="0">
                <a:solidFill>
                  <a:srgbClr val="000000"/>
                </a:solidFill>
              </a:defRPr>
            </a:lvl5pPr>
            <a:lvl6pPr algn="l">
              <a:buNone/>
              <a:defRPr sz="2175" b="0">
                <a:solidFill>
                  <a:srgbClr val="000000"/>
                </a:solidFill>
              </a:defRPr>
            </a:lvl6pPr>
            <a:lvl7pPr algn="l">
              <a:buNone/>
              <a:defRPr sz="2175" b="0">
                <a:solidFill>
                  <a:srgbClr val="000000"/>
                </a:solidFill>
              </a:defRPr>
            </a:lvl7pPr>
            <a:lvl8pPr algn="l">
              <a:buNone/>
              <a:defRPr sz="2175" b="0">
                <a:solidFill>
                  <a:srgbClr val="000000"/>
                </a:solidFill>
              </a:defRPr>
            </a:lvl8pPr>
            <a:lvl9pPr algn="l">
              <a:buNone/>
              <a:defRPr sz="2175" b="0">
                <a:solidFill>
                  <a:srgbClr val="000000"/>
                </a:solidFill>
              </a:defRPr>
            </a:lvl9pPr>
          </a:lstStyle>
          <a:p>
            <a:pPr algn="l">
              <a:buNone/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Mobile preferences personalize the start. Voice analysis checks the session outcome.</a:t>
            </a:r>
          </a:p>
        </p:txBody>
      </p:sp>
    </p:spTree>
    <p:extLst>
      <p:ext uri="{BB962C8B-B14F-4D97-AF65-F5344CB8AC3E}">
        <p14:creationId xmlns:p14="http://schemas.microsoft.com/office/powerpoint/2010/main" val="1945787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755AF9-6AEA-4BCA-A1A2-C57A58214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260" y="1036468"/>
            <a:ext cx="10363200" cy="1362075"/>
          </a:xfrm>
        </p:spPr>
        <p:txBody>
          <a:bodyPr/>
          <a:lstStyle/>
          <a:p>
            <a:r>
              <a:t>IT22191038 | Perera B. d. P. D.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7A91C59-28F0-4A9C-ACA2-19A536A0C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0" y="2568431"/>
            <a:ext cx="10363200" cy="3943105"/>
          </a:xfrm>
        </p:spPr>
        <p:txBody>
          <a:bodyPr>
            <a:normAutofit fontScale="47500" lnSpcReduction="20000"/>
          </a:bodyPr>
          <a:lstStyle/>
          <a:p>
            <a:endParaRPr sz="2400">
              <a:solidFill>
                <a:schemeClr val="tx1"/>
              </a:solidFill>
            </a:endParaRPr>
          </a:p>
          <a:p>
            <a:pPr marL="571500" lvl="0" indent="-571500">
              <a:buFont typeface="Arial"/>
              <a:buChar char="•"/>
            </a:pPr>
            <a:r>
              <a:rPr sz="3800" b="1">
                <a:solidFill>
                  <a:schemeClr val="tx1"/>
                </a:solidFill>
              </a:rPr>
              <a:t>Input:</a:t>
            </a:r>
            <a:r>
              <a:rPr sz="3800">
                <a:solidFill>
                  <a:schemeClr val="tx1"/>
                </a:solidFill>
              </a:rPr>
              <a:t> raw PPG from the wearable (via the mobile app), converted into heartbeat RR intervals</a:t>
            </a:r>
          </a:p>
          <a:p>
            <a:pPr marL="571500" lvl="0" indent="-571500">
              <a:buFont typeface="Arial"/>
              <a:buChar char="•"/>
            </a:pPr>
            <a:r>
              <a:rPr sz="3800" b="1">
                <a:solidFill>
                  <a:schemeClr val="tx1"/>
                </a:solidFill>
              </a:rPr>
              <a:t>Output:</a:t>
            </a:r>
            <a:r>
              <a:rPr sz="3800">
                <a:solidFill>
                  <a:schemeClr val="tx1"/>
                </a:solidFill>
              </a:rPr>
              <a:t> one of four stress levels (relaxed / mild / moderate / high), with a confidence value, sent live to the VR environment and the mobile app</a:t>
            </a:r>
          </a:p>
          <a:p>
            <a:pPr marL="571500" lvl="0" indent="-571500">
              <a:buFont typeface="Arial"/>
              <a:buChar char="•"/>
            </a:pPr>
            <a:r>
              <a:rPr sz="3800" b="1">
                <a:solidFill>
                  <a:schemeClr val="tx1"/>
                </a:solidFill>
              </a:rPr>
              <a:t>Model:</a:t>
            </a:r>
            <a:r>
              <a:rPr sz="3800">
                <a:solidFill>
                  <a:schemeClr val="tx1"/>
                </a:solidFill>
              </a:rPr>
              <a:t> XGBoost + causal MS-CGCA neural network ensemble, using only past heartbeats (fully causal)</a:t>
            </a:r>
          </a:p>
          <a:p>
            <a:pPr marL="571500" lvl="0" indent="-571500">
              <a:buFont typeface="Arial"/>
              <a:buChar char="•"/>
            </a:pPr>
            <a:r>
              <a:rPr sz="3800" b="1">
                <a:solidFill>
                  <a:schemeClr val="tx1"/>
                </a:solidFill>
              </a:rPr>
              <a:t>Research finding:</a:t>
            </a:r>
            <a:r>
              <a:rPr sz="3800">
                <a:solidFill>
                  <a:schemeClr val="tx1"/>
                </a:solidFill>
              </a:rPr>
              <a:t> the accuracy gain credited to circadian (Cosinor) features in short sessions is really </a:t>
            </a:r>
            <a:r>
              <a:rPr sz="3800" b="1">
                <a:solidFill>
                  <a:schemeClr val="tx1"/>
                </a:solidFill>
              </a:rPr>
              <a:t>within-session baseline normalisation</a:t>
            </a:r>
            <a:r>
              <a:rPr sz="3800">
                <a:solidFill>
                  <a:schemeClr val="tx1"/>
                </a:solidFill>
              </a:rPr>
              <a:t>, shown by five analyses across two datasets</a:t>
            </a:r>
          </a:p>
          <a:p>
            <a:pPr marL="571500" lvl="0" indent="-571500">
              <a:buFont typeface="Arial"/>
              <a:buChar char="•"/>
            </a:pPr>
            <a:r>
              <a:rPr sz="3800" b="1">
                <a:solidFill>
                  <a:schemeClr val="tx1"/>
                </a:solidFill>
              </a:rPr>
              <a:t>Deployment finding:</a:t>
            </a:r>
            <a:r>
              <a:rPr sz="3800">
                <a:solidFill>
                  <a:schemeClr val="tx1"/>
                </a:solidFill>
              </a:rPr>
              <a:t> common midpoint labelling inflates offline accuracy by </a:t>
            </a:r>
            <a:r>
              <a:rPr sz="3800" b="1">
                <a:solidFill>
                  <a:schemeClr val="tx1"/>
                </a:solidFill>
              </a:rPr>
              <a:t>0.07–0.08 macro-F1</a:t>
            </a:r>
            <a:r>
              <a:rPr sz="3800">
                <a:solidFill>
                  <a:schemeClr val="tx1"/>
                </a:solidFill>
              </a:rPr>
              <a:t>, so the system uses honest endpoint labelling</a:t>
            </a:r>
          </a:p>
          <a:p>
            <a:pPr marL="571500" lvl="0" indent="-571500">
              <a:buFont typeface="Arial"/>
              <a:buChar char="•"/>
            </a:pPr>
            <a:r>
              <a:rPr sz="3800" b="1">
                <a:solidFill>
                  <a:schemeClr val="tx1"/>
                </a:solidFill>
              </a:rPr>
              <a:t>Result:</a:t>
            </a:r>
            <a:r>
              <a:rPr sz="3800">
                <a:solidFill>
                  <a:schemeClr val="tx1"/>
                </a:solidFill>
              </a:rPr>
              <a:t> macro-F1 </a:t>
            </a:r>
            <a:r>
              <a:rPr sz="3800" b="1">
                <a:solidFill>
                  <a:schemeClr val="tx1"/>
                </a:solidFill>
              </a:rPr>
              <a:t>0.59</a:t>
            </a:r>
            <a:r>
              <a:rPr sz="3800">
                <a:solidFill>
                  <a:schemeClr val="tx1"/>
                </a:solidFill>
              </a:rPr>
              <a:t>, quadratic κ </a:t>
            </a:r>
            <a:r>
              <a:rPr sz="3800" b="1">
                <a:solidFill>
                  <a:schemeClr val="tx1"/>
                </a:solidFill>
              </a:rPr>
              <a:t>0.75</a:t>
            </a:r>
            <a:r>
              <a:rPr sz="3800">
                <a:solidFill>
                  <a:schemeClr val="tx1"/>
                </a:solidFill>
              </a:rPr>
              <a:t> on unseen users; each 15-second frame is processed in </a:t>
            </a:r>
            <a:r>
              <a:rPr sz="3800" b="1">
                <a:solidFill>
                  <a:schemeClr val="tx1"/>
                </a:solidFill>
              </a:rPr>
              <a:t>under 0.5 s</a:t>
            </a:r>
            <a:endParaRPr sz="3800">
              <a:solidFill>
                <a:schemeClr val="tx1"/>
              </a:solidFill>
            </a:endParaRPr>
          </a:p>
          <a:p>
            <a:endParaRPr sz="2400">
              <a:solidFill>
                <a:schemeClr val="tx1"/>
              </a:solidFill>
            </a:endParaRPr>
          </a:p>
          <a:p>
            <a:endParaRPr/>
          </a:p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B98E66-DBD5-4B29-AC68-A58A70C64231}"/>
              </a:ext>
            </a:extLst>
          </p:cNvPr>
          <p:cNvSpPr>
            <a:spLocks noGrp="1"/>
          </p:cNvSpPr>
          <p:nvPr/>
        </p:nvSpPr>
        <p:spPr>
          <a:xfrm>
            <a:off x="2627875" y="6511536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sz="1800" b="1">
                <a:solidFill>
                  <a:schemeClr val="tx1"/>
                </a:solidFill>
              </a:rPr>
              <a:t>IT22191038</a:t>
            </a:r>
            <a:r>
              <a:rPr sz="1800">
                <a:solidFill>
                  <a:schemeClr val="tx1"/>
                </a:solidFill>
              </a:rPr>
              <a:t>   |   </a:t>
            </a:r>
            <a:r>
              <a:rPr sz="1800" b="1">
                <a:solidFill>
                  <a:schemeClr val="tx1"/>
                </a:solidFill>
              </a:rPr>
              <a:t>Perera B.D.P.D.   </a:t>
            </a:r>
            <a:r>
              <a:rPr sz="1800">
                <a:solidFill>
                  <a:schemeClr val="tx1"/>
                </a:solidFill>
              </a:rPr>
              <a:t>|   </a:t>
            </a:r>
            <a:r>
              <a:rPr>
                <a:solidFill>
                  <a:schemeClr val="tx1"/>
                </a:solidFill>
              </a:rPr>
              <a:t>R26-DS-006</a:t>
            </a:r>
            <a:endParaRPr sz="1800" b="0">
              <a:solidFill>
                <a:schemeClr val="tx1"/>
              </a:solidFill>
            </a:endParaRPr>
          </a:p>
        </p:txBody>
      </p:sp>
      <p:pic>
        <p:nvPicPr>
          <p:cNvPr id="20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4849" y="134768"/>
            <a:ext cx="2029223" cy="260843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A0337AB-3FDD-F226-B20E-09DB21C3A197}"/>
              </a:ext>
            </a:extLst>
          </p:cNvPr>
          <p:cNvSpPr>
            <a:spLocks noGrp="1"/>
          </p:cNvSpPr>
          <p:nvPr/>
        </p:nvSpPr>
        <p:spPr>
          <a:xfrm>
            <a:off x="757125" y="1717505"/>
            <a:ext cx="9144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/>
              <a:t>Cosinor-Enhanced Multi-level Stress Inference from Wearable RR Intervals under Real-Time Deployment Constraints</a:t>
            </a:r>
          </a:p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81409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udent-heading">
            <a:extLst>
              <a:ext uri="{FF2B5EF4-FFF2-40B4-BE49-F238E27FC236}">
                <a16:creationId xmlns:a16="http://schemas.microsoft.com/office/drawing/2014/main" id="{8BB49FA2-92C6-4367-B4E1-008721A17897}"/>
              </a:ext>
            </a:extLst>
          </p:cNvPr>
          <p:cNvSpPr>
            <a:spLocks noGrp="1"/>
          </p:cNvSpPr>
          <p:nvPr/>
        </p:nvSpPr>
        <p:spPr>
          <a:xfrm>
            <a:off x="714375" y="571500"/>
            <a:ext cx="105727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3450" b="1">
                <a:solidFill>
                  <a:srgbClr val="000000"/>
                </a:solidFill>
              </a:defRPr>
            </a:lvl1pPr>
            <a:lvl2pPr algn="l">
              <a:buNone/>
              <a:defRPr sz="3450" b="1">
                <a:solidFill>
                  <a:srgbClr val="000000"/>
                </a:solidFill>
              </a:defRPr>
            </a:lvl2pPr>
            <a:lvl3pPr algn="l">
              <a:buNone/>
              <a:defRPr sz="3450" b="1">
                <a:solidFill>
                  <a:srgbClr val="000000"/>
                </a:solidFill>
              </a:defRPr>
            </a:lvl3pPr>
            <a:lvl4pPr algn="l">
              <a:buNone/>
              <a:defRPr sz="3450" b="1">
                <a:solidFill>
                  <a:srgbClr val="000000"/>
                </a:solidFill>
              </a:defRPr>
            </a:lvl4pPr>
            <a:lvl5pPr algn="l">
              <a:buNone/>
              <a:defRPr sz="3450" b="1">
                <a:solidFill>
                  <a:srgbClr val="000000"/>
                </a:solidFill>
              </a:defRPr>
            </a:lvl5pPr>
            <a:lvl6pPr algn="l">
              <a:buNone/>
              <a:defRPr sz="3450" b="1">
                <a:solidFill>
                  <a:srgbClr val="000000"/>
                </a:solidFill>
              </a:defRPr>
            </a:lvl6pPr>
            <a:lvl7pPr algn="l">
              <a:buNone/>
              <a:defRPr sz="3450" b="1">
                <a:solidFill>
                  <a:srgbClr val="000000"/>
                </a:solidFill>
              </a:defRPr>
            </a:lvl7pPr>
            <a:lvl8pPr algn="l">
              <a:buNone/>
              <a:defRPr sz="3450" b="1">
                <a:solidFill>
                  <a:srgbClr val="000000"/>
                </a:solidFill>
              </a:defRPr>
            </a:lvl8pPr>
            <a:lvl9pPr algn="l">
              <a:buNone/>
              <a:defRPr sz="3450" b="1">
                <a:solidFill>
                  <a:srgbClr val="000000"/>
                </a:solidFill>
              </a:defRPr>
            </a:lvl9pPr>
          </a:lstStyle>
          <a:p>
            <a:pPr algn="l">
              <a:buNone/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IT22231314 | PERERA W.T.S.R.</a:t>
            </a:r>
          </a:p>
        </p:txBody>
      </p:sp>
      <p:sp>
        <p:nvSpPr>
          <p:cNvPr id="2" name="research-title">
            <a:extLst>
              <a:ext uri="{FF2B5EF4-FFF2-40B4-BE49-F238E27FC236}">
                <a16:creationId xmlns:a16="http://schemas.microsoft.com/office/drawing/2014/main" id="{905EA28C-1823-421C-9E46-CD4F6CFD6C00}"/>
              </a:ext>
            </a:extLst>
          </p:cNvPr>
          <p:cNvSpPr>
            <a:spLocks noGrp="1"/>
          </p:cNvSpPr>
          <p:nvPr/>
        </p:nvSpPr>
        <p:spPr>
          <a:xfrm>
            <a:off x="742950" y="1381125"/>
            <a:ext cx="10572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2475" b="1">
                <a:solidFill>
                  <a:srgbClr val="000000"/>
                </a:solidFill>
              </a:defRPr>
            </a:lvl1pPr>
            <a:lvl2pPr algn="l">
              <a:buNone/>
              <a:defRPr sz="2475" b="1">
                <a:solidFill>
                  <a:srgbClr val="000000"/>
                </a:solidFill>
              </a:defRPr>
            </a:lvl2pPr>
            <a:lvl3pPr algn="l">
              <a:buNone/>
              <a:defRPr sz="2475" b="1">
                <a:solidFill>
                  <a:srgbClr val="000000"/>
                </a:solidFill>
              </a:defRPr>
            </a:lvl3pPr>
            <a:lvl4pPr algn="l">
              <a:buNone/>
              <a:defRPr sz="2475" b="1">
                <a:solidFill>
                  <a:srgbClr val="000000"/>
                </a:solidFill>
              </a:defRPr>
            </a:lvl4pPr>
            <a:lvl5pPr algn="l">
              <a:buNone/>
              <a:defRPr sz="2475" b="1">
                <a:solidFill>
                  <a:srgbClr val="000000"/>
                </a:solidFill>
              </a:defRPr>
            </a:lvl5pPr>
            <a:lvl6pPr algn="l">
              <a:buNone/>
              <a:defRPr sz="2475" b="1">
                <a:solidFill>
                  <a:srgbClr val="000000"/>
                </a:solidFill>
              </a:defRPr>
            </a:lvl6pPr>
            <a:lvl7pPr algn="l">
              <a:buNone/>
              <a:defRPr sz="2475" b="1">
                <a:solidFill>
                  <a:srgbClr val="000000"/>
                </a:solidFill>
              </a:defRPr>
            </a:lvl7pPr>
            <a:lvl8pPr algn="l">
              <a:buNone/>
              <a:defRPr sz="2475" b="1">
                <a:solidFill>
                  <a:srgbClr val="000000"/>
                </a:solidFill>
              </a:defRPr>
            </a:lvl8pPr>
            <a:lvl9pPr algn="l">
              <a:buNone/>
              <a:defRPr sz="2475" b="1">
                <a:solidFill>
                  <a:srgbClr val="000000"/>
                </a:solidFill>
              </a:defRPr>
            </a:lvl9pPr>
          </a:lstStyle>
          <a:p>
            <a:pPr algn="l">
              <a:buNone/>
              <a:defRPr sz="2475" b="1">
                <a:solidFill>
                  <a:srgbClr val="000000"/>
                </a:solidFill>
              </a:defRPr>
            </a:pPr>
            <a:r>
              <a:rPr sz="2475" b="1">
                <a:solidFill>
                  <a:srgbClr val="000000"/>
                </a:solidFill>
              </a:rPr>
              <a:t>Safety-Constrained Adaptive VR Environment</a:t>
            </a:r>
          </a:p>
        </p:txBody>
      </p:sp>
      <p:sp>
        <p:nvSpPr>
          <p:cNvPr id="3" name="bullet-1">
            <a:extLst>
              <a:ext uri="{FF2B5EF4-FFF2-40B4-BE49-F238E27FC236}">
                <a16:creationId xmlns:a16="http://schemas.microsoft.com/office/drawing/2014/main" id="{6EDE5B46-C762-4400-AA9A-A24813B8A64B}"/>
              </a:ext>
            </a:extLst>
          </p:cNvPr>
          <p:cNvSpPr>
            <a:spLocks noGrp="1"/>
          </p:cNvSpPr>
          <p:nvPr/>
        </p:nvSpPr>
        <p:spPr>
          <a:xfrm>
            <a:off x="714375" y="2476500"/>
            <a:ext cx="106680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1950" b="0">
                <a:solidFill>
                  <a:srgbClr val="8C8C8C"/>
                </a:solidFill>
              </a:defRPr>
            </a:lvl1pPr>
            <a:lvl2pPr algn="l">
              <a:buNone/>
              <a:defRPr sz="1950" b="0">
                <a:solidFill>
                  <a:srgbClr val="8C8C8C"/>
                </a:solidFill>
              </a:defRPr>
            </a:lvl2pPr>
            <a:lvl3pPr algn="l">
              <a:buNone/>
              <a:defRPr sz="1950" b="0">
                <a:solidFill>
                  <a:srgbClr val="8C8C8C"/>
                </a:solidFill>
              </a:defRPr>
            </a:lvl3pPr>
            <a:lvl4pPr algn="l">
              <a:buNone/>
              <a:defRPr sz="1950" b="0">
                <a:solidFill>
                  <a:srgbClr val="8C8C8C"/>
                </a:solidFill>
              </a:defRPr>
            </a:lvl4pPr>
            <a:lvl5pPr algn="l">
              <a:buNone/>
              <a:defRPr sz="1950" b="0">
                <a:solidFill>
                  <a:srgbClr val="8C8C8C"/>
                </a:solidFill>
              </a:defRPr>
            </a:lvl5pPr>
            <a:lvl6pPr algn="l">
              <a:buNone/>
              <a:defRPr sz="1950" b="0">
                <a:solidFill>
                  <a:srgbClr val="8C8C8C"/>
                </a:solidFill>
              </a:defRPr>
            </a:lvl6pPr>
            <a:lvl7pPr algn="l">
              <a:buNone/>
              <a:defRPr sz="1950" b="0">
                <a:solidFill>
                  <a:srgbClr val="8C8C8C"/>
                </a:solidFill>
              </a:defRPr>
            </a:lvl7pPr>
            <a:lvl8pPr algn="l">
              <a:buNone/>
              <a:defRPr sz="1950" b="0">
                <a:solidFill>
                  <a:srgbClr val="8C8C8C"/>
                </a:solidFill>
              </a:defRPr>
            </a:lvl8pPr>
            <a:lvl9pPr algn="l">
              <a:buNone/>
              <a:defRPr sz="1950" b="0">
                <a:solidFill>
                  <a:srgbClr val="8C8C8C"/>
                </a:solidFill>
              </a:defRPr>
            </a:lvl9pPr>
          </a:lstStyle>
          <a:p>
            <a:pPr algn="l">
              <a:buNone/>
              <a:defRPr sz="1950" b="0">
                <a:solidFill>
                  <a:srgbClr val="8C8C8C"/>
                </a:solidFill>
              </a:defRPr>
            </a:pPr>
            <a:r>
              <a:rPr sz="1950" b="0" dirty="0">
                <a:solidFill>
                  <a:schemeClr val="tx1"/>
                </a:solidFill>
              </a:rPr>
              <a:t>•  Input: visual preferences and validated stress estimates</a:t>
            </a:r>
          </a:p>
        </p:txBody>
      </p:sp>
      <p:sp>
        <p:nvSpPr>
          <p:cNvPr id="4" name="bullet-2">
            <a:extLst>
              <a:ext uri="{FF2B5EF4-FFF2-40B4-BE49-F238E27FC236}">
                <a16:creationId xmlns:a16="http://schemas.microsoft.com/office/drawing/2014/main" id="{6096C796-D5BB-42CD-B59E-71964053359F}"/>
              </a:ext>
            </a:extLst>
          </p:cNvPr>
          <p:cNvSpPr>
            <a:spLocks noGrp="1"/>
          </p:cNvSpPr>
          <p:nvPr/>
        </p:nvSpPr>
        <p:spPr>
          <a:xfrm>
            <a:off x="714375" y="3143250"/>
            <a:ext cx="106680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1950" b="0">
                <a:solidFill>
                  <a:srgbClr val="8C8C8C"/>
                </a:solidFill>
              </a:defRPr>
            </a:lvl1pPr>
            <a:lvl2pPr algn="l">
              <a:buNone/>
              <a:defRPr sz="1950" b="0">
                <a:solidFill>
                  <a:srgbClr val="8C8C8C"/>
                </a:solidFill>
              </a:defRPr>
            </a:lvl2pPr>
            <a:lvl3pPr algn="l">
              <a:buNone/>
              <a:defRPr sz="1950" b="0">
                <a:solidFill>
                  <a:srgbClr val="8C8C8C"/>
                </a:solidFill>
              </a:defRPr>
            </a:lvl3pPr>
            <a:lvl4pPr algn="l">
              <a:buNone/>
              <a:defRPr sz="1950" b="0">
                <a:solidFill>
                  <a:srgbClr val="8C8C8C"/>
                </a:solidFill>
              </a:defRPr>
            </a:lvl4pPr>
            <a:lvl5pPr algn="l">
              <a:buNone/>
              <a:defRPr sz="1950" b="0">
                <a:solidFill>
                  <a:srgbClr val="8C8C8C"/>
                </a:solidFill>
              </a:defRPr>
            </a:lvl5pPr>
            <a:lvl6pPr algn="l">
              <a:buNone/>
              <a:defRPr sz="1950" b="0">
                <a:solidFill>
                  <a:srgbClr val="8C8C8C"/>
                </a:solidFill>
              </a:defRPr>
            </a:lvl6pPr>
            <a:lvl7pPr algn="l">
              <a:buNone/>
              <a:defRPr sz="1950" b="0">
                <a:solidFill>
                  <a:srgbClr val="8C8C8C"/>
                </a:solidFill>
              </a:defRPr>
            </a:lvl7pPr>
            <a:lvl8pPr algn="l">
              <a:buNone/>
              <a:defRPr sz="1950" b="0">
                <a:solidFill>
                  <a:srgbClr val="8C8C8C"/>
                </a:solidFill>
              </a:defRPr>
            </a:lvl8pPr>
            <a:lvl9pPr algn="l">
              <a:buNone/>
              <a:defRPr sz="1950" b="0">
                <a:solidFill>
                  <a:srgbClr val="8C8C8C"/>
                </a:solidFill>
              </a:defRPr>
            </a:lvl9pPr>
          </a:lstStyle>
          <a:p>
            <a:pPr algn="l">
              <a:buNone/>
              <a:defRPr sz="1950" b="0">
                <a:solidFill>
                  <a:srgbClr val="8C8C8C"/>
                </a:solidFill>
              </a:defRPr>
            </a:pPr>
            <a:r>
              <a:rPr sz="1950" b="0" dirty="0">
                <a:solidFill>
                  <a:schemeClr val="tx1"/>
                </a:solidFill>
              </a:rPr>
              <a:t>•  Control: five normalized visual properties in the </a:t>
            </a:r>
            <a:r>
              <a:rPr lang="en-US" dirty="0">
                <a:solidFill>
                  <a:schemeClr val="tx1"/>
                </a:solidFill>
              </a:rPr>
              <a:t>VR</a:t>
            </a:r>
            <a:r>
              <a:rPr sz="1950" b="0" dirty="0">
                <a:solidFill>
                  <a:schemeClr val="tx1"/>
                </a:solidFill>
              </a:rPr>
              <a:t> scene</a:t>
            </a:r>
          </a:p>
        </p:txBody>
      </p:sp>
      <p:sp>
        <p:nvSpPr>
          <p:cNvPr id="5" name="bullet-3">
            <a:extLst>
              <a:ext uri="{FF2B5EF4-FFF2-40B4-BE49-F238E27FC236}">
                <a16:creationId xmlns:a16="http://schemas.microsoft.com/office/drawing/2014/main" id="{C6F9226F-8068-449F-B9C7-9B28444251A4}"/>
              </a:ext>
            </a:extLst>
          </p:cNvPr>
          <p:cNvSpPr>
            <a:spLocks noGrp="1"/>
          </p:cNvSpPr>
          <p:nvPr/>
        </p:nvSpPr>
        <p:spPr>
          <a:xfrm>
            <a:off x="714375" y="3810000"/>
            <a:ext cx="106680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1950" b="0">
                <a:solidFill>
                  <a:srgbClr val="8C8C8C"/>
                </a:solidFill>
              </a:defRPr>
            </a:lvl1pPr>
            <a:lvl2pPr algn="l">
              <a:buNone/>
              <a:defRPr sz="1950" b="0">
                <a:solidFill>
                  <a:srgbClr val="8C8C8C"/>
                </a:solidFill>
              </a:defRPr>
            </a:lvl2pPr>
            <a:lvl3pPr algn="l">
              <a:buNone/>
              <a:defRPr sz="1950" b="0">
                <a:solidFill>
                  <a:srgbClr val="8C8C8C"/>
                </a:solidFill>
              </a:defRPr>
            </a:lvl3pPr>
            <a:lvl4pPr algn="l">
              <a:buNone/>
              <a:defRPr sz="1950" b="0">
                <a:solidFill>
                  <a:srgbClr val="8C8C8C"/>
                </a:solidFill>
              </a:defRPr>
            </a:lvl4pPr>
            <a:lvl5pPr algn="l">
              <a:buNone/>
              <a:defRPr sz="1950" b="0">
                <a:solidFill>
                  <a:srgbClr val="8C8C8C"/>
                </a:solidFill>
              </a:defRPr>
            </a:lvl5pPr>
            <a:lvl6pPr algn="l">
              <a:buNone/>
              <a:defRPr sz="1950" b="0">
                <a:solidFill>
                  <a:srgbClr val="8C8C8C"/>
                </a:solidFill>
              </a:defRPr>
            </a:lvl6pPr>
            <a:lvl7pPr algn="l">
              <a:buNone/>
              <a:defRPr sz="1950" b="0">
                <a:solidFill>
                  <a:srgbClr val="8C8C8C"/>
                </a:solidFill>
              </a:defRPr>
            </a:lvl7pPr>
            <a:lvl8pPr algn="l">
              <a:buNone/>
              <a:defRPr sz="1950" b="0">
                <a:solidFill>
                  <a:srgbClr val="8C8C8C"/>
                </a:solidFill>
              </a:defRPr>
            </a:lvl8pPr>
            <a:lvl9pPr algn="l">
              <a:buNone/>
              <a:defRPr sz="1950" b="0">
                <a:solidFill>
                  <a:srgbClr val="8C8C8C"/>
                </a:solidFill>
              </a:defRPr>
            </a:lvl9pPr>
          </a:lstStyle>
          <a:p>
            <a:pPr algn="l">
              <a:buNone/>
              <a:defRPr sz="1950" b="0">
                <a:solidFill>
                  <a:srgbClr val="8C8C8C"/>
                </a:solidFill>
              </a:defRPr>
            </a:pPr>
            <a:r>
              <a:rPr sz="1950" b="0">
                <a:solidFill>
                  <a:schemeClr val="tx1"/>
                </a:solidFill>
              </a:rPr>
              <a:t>•  Method: static, rule-based and LinUCB modes use the same safety layer</a:t>
            </a:r>
          </a:p>
        </p:txBody>
      </p:sp>
      <p:sp>
        <p:nvSpPr>
          <p:cNvPr id="6" name="bullet-4">
            <a:extLst>
              <a:ext uri="{FF2B5EF4-FFF2-40B4-BE49-F238E27FC236}">
                <a16:creationId xmlns:a16="http://schemas.microsoft.com/office/drawing/2014/main" id="{4B74E234-469B-475C-A54B-74FB17F10223}"/>
              </a:ext>
            </a:extLst>
          </p:cNvPr>
          <p:cNvSpPr>
            <a:spLocks noGrp="1"/>
          </p:cNvSpPr>
          <p:nvPr/>
        </p:nvSpPr>
        <p:spPr>
          <a:xfrm>
            <a:off x="714375" y="4476750"/>
            <a:ext cx="106680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1950" b="0">
                <a:solidFill>
                  <a:srgbClr val="8C8C8C"/>
                </a:solidFill>
              </a:defRPr>
            </a:lvl1pPr>
            <a:lvl2pPr algn="l">
              <a:buNone/>
              <a:defRPr sz="1950" b="0">
                <a:solidFill>
                  <a:srgbClr val="8C8C8C"/>
                </a:solidFill>
              </a:defRPr>
            </a:lvl2pPr>
            <a:lvl3pPr algn="l">
              <a:buNone/>
              <a:defRPr sz="1950" b="0">
                <a:solidFill>
                  <a:srgbClr val="8C8C8C"/>
                </a:solidFill>
              </a:defRPr>
            </a:lvl3pPr>
            <a:lvl4pPr algn="l">
              <a:buNone/>
              <a:defRPr sz="1950" b="0">
                <a:solidFill>
                  <a:srgbClr val="8C8C8C"/>
                </a:solidFill>
              </a:defRPr>
            </a:lvl4pPr>
            <a:lvl5pPr algn="l">
              <a:buNone/>
              <a:defRPr sz="1950" b="0">
                <a:solidFill>
                  <a:srgbClr val="8C8C8C"/>
                </a:solidFill>
              </a:defRPr>
            </a:lvl5pPr>
            <a:lvl6pPr algn="l">
              <a:buNone/>
              <a:defRPr sz="1950" b="0">
                <a:solidFill>
                  <a:srgbClr val="8C8C8C"/>
                </a:solidFill>
              </a:defRPr>
            </a:lvl6pPr>
            <a:lvl7pPr algn="l">
              <a:buNone/>
              <a:defRPr sz="1950" b="0">
                <a:solidFill>
                  <a:srgbClr val="8C8C8C"/>
                </a:solidFill>
              </a:defRPr>
            </a:lvl7pPr>
            <a:lvl8pPr algn="l">
              <a:buNone/>
              <a:defRPr sz="1950" b="0">
                <a:solidFill>
                  <a:srgbClr val="8C8C8C"/>
                </a:solidFill>
              </a:defRPr>
            </a:lvl8pPr>
            <a:lvl9pPr algn="l">
              <a:buNone/>
              <a:defRPr sz="1950" b="0">
                <a:solidFill>
                  <a:srgbClr val="8C8C8C"/>
                </a:solidFill>
              </a:defRPr>
            </a:lvl9pPr>
          </a:lstStyle>
          <a:p>
            <a:pPr algn="l">
              <a:buNone/>
              <a:defRPr sz="1950" b="0">
                <a:solidFill>
                  <a:srgbClr val="8C8C8C"/>
                </a:solidFill>
              </a:defRPr>
            </a:pPr>
            <a:r>
              <a:rPr sz="1950" b="0">
                <a:solidFill>
                  <a:schemeClr val="tx1"/>
                </a:solidFill>
              </a:rPr>
              <a:t>•  Result: synthetic 20-session carry-over regret 0.323 vs 0.468 for reset</a:t>
            </a:r>
          </a:p>
        </p:txBody>
      </p:sp>
      <p:sp>
        <p:nvSpPr>
          <p:cNvPr id="7" name="bullet-5">
            <a:extLst>
              <a:ext uri="{FF2B5EF4-FFF2-40B4-BE49-F238E27FC236}">
                <a16:creationId xmlns:a16="http://schemas.microsoft.com/office/drawing/2014/main" id="{8B3C54C4-A022-454A-9250-BEA4E66CE367}"/>
              </a:ext>
            </a:extLst>
          </p:cNvPr>
          <p:cNvSpPr>
            <a:spLocks noGrp="1"/>
          </p:cNvSpPr>
          <p:nvPr/>
        </p:nvSpPr>
        <p:spPr>
          <a:xfrm>
            <a:off x="714375" y="5143500"/>
            <a:ext cx="106680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1950" b="0">
                <a:solidFill>
                  <a:srgbClr val="8C8C8C"/>
                </a:solidFill>
              </a:defRPr>
            </a:lvl1pPr>
            <a:lvl2pPr algn="l">
              <a:buNone/>
              <a:defRPr sz="1950" b="0">
                <a:solidFill>
                  <a:srgbClr val="8C8C8C"/>
                </a:solidFill>
              </a:defRPr>
            </a:lvl2pPr>
            <a:lvl3pPr algn="l">
              <a:buNone/>
              <a:defRPr sz="1950" b="0">
                <a:solidFill>
                  <a:srgbClr val="8C8C8C"/>
                </a:solidFill>
              </a:defRPr>
            </a:lvl3pPr>
            <a:lvl4pPr algn="l">
              <a:buNone/>
              <a:defRPr sz="1950" b="0">
                <a:solidFill>
                  <a:srgbClr val="8C8C8C"/>
                </a:solidFill>
              </a:defRPr>
            </a:lvl4pPr>
            <a:lvl5pPr algn="l">
              <a:buNone/>
              <a:defRPr sz="1950" b="0">
                <a:solidFill>
                  <a:srgbClr val="8C8C8C"/>
                </a:solidFill>
              </a:defRPr>
            </a:lvl5pPr>
            <a:lvl6pPr algn="l">
              <a:buNone/>
              <a:defRPr sz="1950" b="0">
                <a:solidFill>
                  <a:srgbClr val="8C8C8C"/>
                </a:solidFill>
              </a:defRPr>
            </a:lvl6pPr>
            <a:lvl7pPr algn="l">
              <a:buNone/>
              <a:defRPr sz="1950" b="0">
                <a:solidFill>
                  <a:srgbClr val="8C8C8C"/>
                </a:solidFill>
              </a:defRPr>
            </a:lvl7pPr>
            <a:lvl8pPr algn="l">
              <a:buNone/>
              <a:defRPr sz="1950" b="0">
                <a:solidFill>
                  <a:srgbClr val="8C8C8C"/>
                </a:solidFill>
              </a:defRPr>
            </a:lvl8pPr>
            <a:lvl9pPr algn="l">
              <a:buNone/>
              <a:defRPr sz="1950" b="0">
                <a:solidFill>
                  <a:srgbClr val="8C8C8C"/>
                </a:solidFill>
              </a:defRPr>
            </a:lvl9pPr>
          </a:lstStyle>
          <a:p>
            <a:pPr algn="l">
              <a:buNone/>
              <a:defRPr sz="1950" b="0">
                <a:solidFill>
                  <a:srgbClr val="8C8C8C"/>
                </a:solidFill>
              </a:defRPr>
            </a:pPr>
            <a:r>
              <a:rPr sz="1950" b="0" dirty="0">
                <a:solidFill>
                  <a:schemeClr val="tx1"/>
                </a:solidFill>
              </a:rPr>
              <a:t>•  Limit: human benefit and full Quest 2 validation remain pending</a:t>
            </a:r>
          </a:p>
        </p:txBody>
      </p:sp>
      <p:sp>
        <p:nvSpPr>
          <p:cNvPr id="8" name="student-footer">
            <a:extLst>
              <a:ext uri="{FF2B5EF4-FFF2-40B4-BE49-F238E27FC236}">
                <a16:creationId xmlns:a16="http://schemas.microsoft.com/office/drawing/2014/main" id="{6FFE1FBE-2D89-4466-8763-44DC33AEE643}"/>
              </a:ext>
            </a:extLst>
          </p:cNvPr>
          <p:cNvSpPr>
            <a:spLocks noGrp="1"/>
          </p:cNvSpPr>
          <p:nvPr/>
        </p:nvSpPr>
        <p:spPr>
          <a:xfrm>
            <a:off x="2628900" y="6477000"/>
            <a:ext cx="685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1725" b="0">
                <a:solidFill>
                  <a:srgbClr val="000000"/>
                </a:solidFill>
              </a:defRPr>
            </a:lvl1pPr>
            <a:lvl2pPr algn="l">
              <a:buNone/>
              <a:defRPr sz="1725" b="0">
                <a:solidFill>
                  <a:srgbClr val="000000"/>
                </a:solidFill>
              </a:defRPr>
            </a:lvl2pPr>
            <a:lvl3pPr algn="l">
              <a:buNone/>
              <a:defRPr sz="1725" b="0">
                <a:solidFill>
                  <a:srgbClr val="000000"/>
                </a:solidFill>
              </a:defRPr>
            </a:lvl3pPr>
            <a:lvl4pPr algn="l">
              <a:buNone/>
              <a:defRPr sz="1725" b="0">
                <a:solidFill>
                  <a:srgbClr val="000000"/>
                </a:solidFill>
              </a:defRPr>
            </a:lvl4pPr>
            <a:lvl5pPr algn="l">
              <a:buNone/>
              <a:defRPr sz="1725" b="0">
                <a:solidFill>
                  <a:srgbClr val="000000"/>
                </a:solidFill>
              </a:defRPr>
            </a:lvl5pPr>
            <a:lvl6pPr algn="l">
              <a:buNone/>
              <a:defRPr sz="1725" b="0">
                <a:solidFill>
                  <a:srgbClr val="000000"/>
                </a:solidFill>
              </a:defRPr>
            </a:lvl6pPr>
            <a:lvl7pPr algn="l">
              <a:buNone/>
              <a:defRPr sz="1725" b="0">
                <a:solidFill>
                  <a:srgbClr val="000000"/>
                </a:solidFill>
              </a:defRPr>
            </a:lvl7pPr>
            <a:lvl8pPr algn="l">
              <a:buNone/>
              <a:defRPr sz="1725" b="0">
                <a:solidFill>
                  <a:srgbClr val="000000"/>
                </a:solidFill>
              </a:defRPr>
            </a:lvl8pPr>
            <a:lvl9pPr algn="l">
              <a:buNone/>
              <a:defRPr sz="1725" b="0">
                <a:solidFill>
                  <a:srgbClr val="000000"/>
                </a:solidFill>
              </a:defRPr>
            </a:lvl9pPr>
          </a:lstStyle>
          <a:p>
            <a:pPr algn="l">
              <a:buNone/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IT22231314   |   Perera W.T.S.R.   |   R26-DS-006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6DAE176-E274-DB4F-A4AF-090890D546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6900" y="168211"/>
            <a:ext cx="2627376" cy="2627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551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udent-heading">
            <a:extLst>
              <a:ext uri="{FF2B5EF4-FFF2-40B4-BE49-F238E27FC236}">
                <a16:creationId xmlns:a16="http://schemas.microsoft.com/office/drawing/2014/main" id="{2173254E-1C6E-4DA0-9FCF-F1A398A2C4F7}"/>
              </a:ext>
            </a:extLst>
          </p:cNvPr>
          <p:cNvSpPr>
            <a:spLocks noGrp="1"/>
          </p:cNvSpPr>
          <p:nvPr/>
        </p:nvSpPr>
        <p:spPr>
          <a:xfrm>
            <a:off x="714375" y="571500"/>
            <a:ext cx="105727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3450" b="1">
                <a:solidFill>
                  <a:srgbClr val="000000"/>
                </a:solidFill>
              </a:defRPr>
            </a:lvl1pPr>
            <a:lvl2pPr algn="l">
              <a:buNone/>
              <a:defRPr sz="3450" b="1">
                <a:solidFill>
                  <a:srgbClr val="000000"/>
                </a:solidFill>
              </a:defRPr>
            </a:lvl2pPr>
            <a:lvl3pPr algn="l">
              <a:buNone/>
              <a:defRPr sz="3450" b="1">
                <a:solidFill>
                  <a:srgbClr val="000000"/>
                </a:solidFill>
              </a:defRPr>
            </a:lvl3pPr>
            <a:lvl4pPr algn="l">
              <a:buNone/>
              <a:defRPr sz="3450" b="1">
                <a:solidFill>
                  <a:srgbClr val="000000"/>
                </a:solidFill>
              </a:defRPr>
            </a:lvl4pPr>
            <a:lvl5pPr algn="l">
              <a:buNone/>
              <a:defRPr sz="3450" b="1">
                <a:solidFill>
                  <a:srgbClr val="000000"/>
                </a:solidFill>
              </a:defRPr>
            </a:lvl5pPr>
            <a:lvl6pPr algn="l">
              <a:buNone/>
              <a:defRPr sz="3450" b="1">
                <a:solidFill>
                  <a:srgbClr val="000000"/>
                </a:solidFill>
              </a:defRPr>
            </a:lvl6pPr>
            <a:lvl7pPr algn="l">
              <a:buNone/>
              <a:defRPr sz="3450" b="1">
                <a:solidFill>
                  <a:srgbClr val="000000"/>
                </a:solidFill>
              </a:defRPr>
            </a:lvl7pPr>
            <a:lvl8pPr algn="l">
              <a:buNone/>
              <a:defRPr sz="3450" b="1">
                <a:solidFill>
                  <a:srgbClr val="000000"/>
                </a:solidFill>
              </a:defRPr>
            </a:lvl8pPr>
            <a:lvl9pPr algn="l">
              <a:buNone/>
              <a:defRPr sz="3450" b="1">
                <a:solidFill>
                  <a:srgbClr val="000000"/>
                </a:solidFill>
              </a:defRPr>
            </a:lvl9pPr>
          </a:lstStyle>
          <a:p>
            <a:pPr algn="l">
              <a:buNone/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IT22172396 | SAMARASEKARA K.S.M.</a:t>
            </a:r>
          </a:p>
        </p:txBody>
      </p:sp>
      <p:sp>
        <p:nvSpPr>
          <p:cNvPr id="2" name="research-title">
            <a:extLst>
              <a:ext uri="{FF2B5EF4-FFF2-40B4-BE49-F238E27FC236}">
                <a16:creationId xmlns:a16="http://schemas.microsoft.com/office/drawing/2014/main" id="{5DF39594-3795-48D2-AF32-6F5F96509AEE}"/>
              </a:ext>
            </a:extLst>
          </p:cNvPr>
          <p:cNvSpPr>
            <a:spLocks noGrp="1"/>
          </p:cNvSpPr>
          <p:nvPr/>
        </p:nvSpPr>
        <p:spPr>
          <a:xfrm>
            <a:off x="742950" y="1381125"/>
            <a:ext cx="10572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2475" b="1">
                <a:solidFill>
                  <a:srgbClr val="000000"/>
                </a:solidFill>
              </a:defRPr>
            </a:lvl1pPr>
            <a:lvl2pPr algn="l">
              <a:buNone/>
              <a:defRPr sz="2475" b="1">
                <a:solidFill>
                  <a:srgbClr val="000000"/>
                </a:solidFill>
              </a:defRPr>
            </a:lvl2pPr>
            <a:lvl3pPr algn="l">
              <a:buNone/>
              <a:defRPr sz="2475" b="1">
                <a:solidFill>
                  <a:srgbClr val="000000"/>
                </a:solidFill>
              </a:defRPr>
            </a:lvl3pPr>
            <a:lvl4pPr algn="l">
              <a:buNone/>
              <a:defRPr sz="2475" b="1">
                <a:solidFill>
                  <a:srgbClr val="000000"/>
                </a:solidFill>
              </a:defRPr>
            </a:lvl4pPr>
            <a:lvl5pPr algn="l">
              <a:buNone/>
              <a:defRPr sz="2475" b="1">
                <a:solidFill>
                  <a:srgbClr val="000000"/>
                </a:solidFill>
              </a:defRPr>
            </a:lvl5pPr>
            <a:lvl6pPr algn="l">
              <a:buNone/>
              <a:defRPr sz="2475" b="1">
                <a:solidFill>
                  <a:srgbClr val="000000"/>
                </a:solidFill>
              </a:defRPr>
            </a:lvl6pPr>
            <a:lvl7pPr algn="l">
              <a:buNone/>
              <a:defRPr sz="2475" b="1">
                <a:solidFill>
                  <a:srgbClr val="000000"/>
                </a:solidFill>
              </a:defRPr>
            </a:lvl7pPr>
            <a:lvl8pPr algn="l">
              <a:buNone/>
              <a:defRPr sz="2475" b="1">
                <a:solidFill>
                  <a:srgbClr val="000000"/>
                </a:solidFill>
              </a:defRPr>
            </a:lvl8pPr>
            <a:lvl9pPr algn="l">
              <a:buNone/>
              <a:defRPr sz="2475" b="1">
                <a:solidFill>
                  <a:srgbClr val="000000"/>
                </a:solidFill>
              </a:defRPr>
            </a:lvl9pPr>
          </a:lstStyle>
          <a:p>
            <a:pPr algn="l">
              <a:buNone/>
              <a:defRPr sz="2475" b="1">
                <a:solidFill>
                  <a:srgbClr val="000000"/>
                </a:solidFill>
              </a:defRPr>
            </a:pPr>
            <a:r>
              <a:rPr sz="2475" b="1">
                <a:solidFill>
                  <a:srgbClr val="000000"/>
                </a:solidFill>
              </a:rPr>
              <a:t>Personalized Adaptive Meditation Audio</a:t>
            </a:r>
          </a:p>
        </p:txBody>
      </p:sp>
      <p:sp>
        <p:nvSpPr>
          <p:cNvPr id="3" name="bullet-1">
            <a:extLst>
              <a:ext uri="{FF2B5EF4-FFF2-40B4-BE49-F238E27FC236}">
                <a16:creationId xmlns:a16="http://schemas.microsoft.com/office/drawing/2014/main" id="{3E3525B1-80FA-41C4-8E9D-C636BD1D4021}"/>
              </a:ext>
            </a:extLst>
          </p:cNvPr>
          <p:cNvSpPr>
            <a:spLocks noGrp="1"/>
          </p:cNvSpPr>
          <p:nvPr/>
        </p:nvSpPr>
        <p:spPr>
          <a:xfrm>
            <a:off x="714375" y="2476500"/>
            <a:ext cx="106680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1950" b="0">
                <a:solidFill>
                  <a:srgbClr val="8C8C8C"/>
                </a:solidFill>
              </a:defRPr>
            </a:lvl1pPr>
            <a:lvl2pPr algn="l">
              <a:buNone/>
              <a:defRPr sz="1950" b="0">
                <a:solidFill>
                  <a:srgbClr val="8C8C8C"/>
                </a:solidFill>
              </a:defRPr>
            </a:lvl2pPr>
            <a:lvl3pPr algn="l">
              <a:buNone/>
              <a:defRPr sz="1950" b="0">
                <a:solidFill>
                  <a:srgbClr val="8C8C8C"/>
                </a:solidFill>
              </a:defRPr>
            </a:lvl3pPr>
            <a:lvl4pPr algn="l">
              <a:buNone/>
              <a:defRPr sz="1950" b="0">
                <a:solidFill>
                  <a:srgbClr val="8C8C8C"/>
                </a:solidFill>
              </a:defRPr>
            </a:lvl4pPr>
            <a:lvl5pPr algn="l">
              <a:buNone/>
              <a:defRPr sz="1950" b="0">
                <a:solidFill>
                  <a:srgbClr val="8C8C8C"/>
                </a:solidFill>
              </a:defRPr>
            </a:lvl5pPr>
            <a:lvl6pPr algn="l">
              <a:buNone/>
              <a:defRPr sz="1950" b="0">
                <a:solidFill>
                  <a:srgbClr val="8C8C8C"/>
                </a:solidFill>
              </a:defRPr>
            </a:lvl6pPr>
            <a:lvl7pPr algn="l">
              <a:buNone/>
              <a:defRPr sz="1950" b="0">
                <a:solidFill>
                  <a:srgbClr val="8C8C8C"/>
                </a:solidFill>
              </a:defRPr>
            </a:lvl7pPr>
            <a:lvl8pPr algn="l">
              <a:buNone/>
              <a:defRPr sz="1950" b="0">
                <a:solidFill>
                  <a:srgbClr val="8C8C8C"/>
                </a:solidFill>
              </a:defRPr>
            </a:lvl8pPr>
            <a:lvl9pPr algn="l">
              <a:buNone/>
              <a:defRPr sz="1950" b="0">
                <a:solidFill>
                  <a:srgbClr val="8C8C8C"/>
                </a:solidFill>
              </a:defRPr>
            </a:lvl9pPr>
          </a:lstStyle>
          <a:p>
            <a:pPr algn="l">
              <a:buNone/>
              <a:defRPr sz="1950" b="0">
                <a:solidFill>
                  <a:srgbClr val="8C8C8C"/>
                </a:solidFill>
              </a:defRPr>
            </a:pPr>
            <a:r>
              <a:rPr sz="1950" b="0" dirty="0">
                <a:solidFill>
                  <a:schemeClr val="tx1"/>
                </a:solidFill>
              </a:rPr>
              <a:t>•  Input: mobile sound preferences and valid stress/HRV windows</a:t>
            </a:r>
          </a:p>
        </p:txBody>
      </p:sp>
      <p:sp>
        <p:nvSpPr>
          <p:cNvPr id="4" name="bullet-2">
            <a:extLst>
              <a:ext uri="{FF2B5EF4-FFF2-40B4-BE49-F238E27FC236}">
                <a16:creationId xmlns:a16="http://schemas.microsoft.com/office/drawing/2014/main" id="{E795B391-25F0-41C0-B6B0-BC4389E403B3}"/>
              </a:ext>
            </a:extLst>
          </p:cNvPr>
          <p:cNvSpPr>
            <a:spLocks noGrp="1"/>
          </p:cNvSpPr>
          <p:nvPr/>
        </p:nvSpPr>
        <p:spPr>
          <a:xfrm>
            <a:off x="714375" y="3143250"/>
            <a:ext cx="106680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1950" b="0">
                <a:solidFill>
                  <a:srgbClr val="8C8C8C"/>
                </a:solidFill>
              </a:defRPr>
            </a:lvl1pPr>
            <a:lvl2pPr algn="l">
              <a:buNone/>
              <a:defRPr sz="1950" b="0">
                <a:solidFill>
                  <a:srgbClr val="8C8C8C"/>
                </a:solidFill>
              </a:defRPr>
            </a:lvl2pPr>
            <a:lvl3pPr algn="l">
              <a:buNone/>
              <a:defRPr sz="1950" b="0">
                <a:solidFill>
                  <a:srgbClr val="8C8C8C"/>
                </a:solidFill>
              </a:defRPr>
            </a:lvl3pPr>
            <a:lvl4pPr algn="l">
              <a:buNone/>
              <a:defRPr sz="1950" b="0">
                <a:solidFill>
                  <a:srgbClr val="8C8C8C"/>
                </a:solidFill>
              </a:defRPr>
            </a:lvl4pPr>
            <a:lvl5pPr algn="l">
              <a:buNone/>
              <a:defRPr sz="1950" b="0">
                <a:solidFill>
                  <a:srgbClr val="8C8C8C"/>
                </a:solidFill>
              </a:defRPr>
            </a:lvl5pPr>
            <a:lvl6pPr algn="l">
              <a:buNone/>
              <a:defRPr sz="1950" b="0">
                <a:solidFill>
                  <a:srgbClr val="8C8C8C"/>
                </a:solidFill>
              </a:defRPr>
            </a:lvl6pPr>
            <a:lvl7pPr algn="l">
              <a:buNone/>
              <a:defRPr sz="1950" b="0">
                <a:solidFill>
                  <a:srgbClr val="8C8C8C"/>
                </a:solidFill>
              </a:defRPr>
            </a:lvl7pPr>
            <a:lvl8pPr algn="l">
              <a:buNone/>
              <a:defRPr sz="1950" b="0">
                <a:solidFill>
                  <a:srgbClr val="8C8C8C"/>
                </a:solidFill>
              </a:defRPr>
            </a:lvl8pPr>
            <a:lvl9pPr algn="l">
              <a:buNone/>
              <a:defRPr sz="1950" b="0">
                <a:solidFill>
                  <a:srgbClr val="8C8C8C"/>
                </a:solidFill>
              </a:defRPr>
            </a:lvl9pPr>
          </a:lstStyle>
          <a:p>
            <a:pPr algn="l">
              <a:buNone/>
              <a:defRPr sz="1950" b="0">
                <a:solidFill>
                  <a:srgbClr val="8C8C8C"/>
                </a:solidFill>
              </a:defRPr>
            </a:pPr>
            <a:r>
              <a:rPr sz="1950" b="0">
                <a:solidFill>
                  <a:schemeClr val="tx1"/>
                </a:solidFill>
              </a:rPr>
              <a:t>•  Output: generated meditation music with fixed scene ambience</a:t>
            </a:r>
          </a:p>
        </p:txBody>
      </p:sp>
      <p:sp>
        <p:nvSpPr>
          <p:cNvPr id="5" name="bullet-3">
            <a:extLst>
              <a:ext uri="{FF2B5EF4-FFF2-40B4-BE49-F238E27FC236}">
                <a16:creationId xmlns:a16="http://schemas.microsoft.com/office/drawing/2014/main" id="{5E01CC73-BA39-48B0-9880-9A900FD8EFEB}"/>
              </a:ext>
            </a:extLst>
          </p:cNvPr>
          <p:cNvSpPr>
            <a:spLocks noGrp="1"/>
          </p:cNvSpPr>
          <p:nvPr/>
        </p:nvSpPr>
        <p:spPr>
          <a:xfrm>
            <a:off x="714375" y="3810000"/>
            <a:ext cx="106680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1950" b="0">
                <a:solidFill>
                  <a:srgbClr val="8C8C8C"/>
                </a:solidFill>
              </a:defRPr>
            </a:lvl1pPr>
            <a:lvl2pPr algn="l">
              <a:buNone/>
              <a:defRPr sz="1950" b="0">
                <a:solidFill>
                  <a:srgbClr val="8C8C8C"/>
                </a:solidFill>
              </a:defRPr>
            </a:lvl2pPr>
            <a:lvl3pPr algn="l">
              <a:buNone/>
              <a:defRPr sz="1950" b="0">
                <a:solidFill>
                  <a:srgbClr val="8C8C8C"/>
                </a:solidFill>
              </a:defRPr>
            </a:lvl3pPr>
            <a:lvl4pPr algn="l">
              <a:buNone/>
              <a:defRPr sz="1950" b="0">
                <a:solidFill>
                  <a:srgbClr val="8C8C8C"/>
                </a:solidFill>
              </a:defRPr>
            </a:lvl4pPr>
            <a:lvl5pPr algn="l">
              <a:buNone/>
              <a:defRPr sz="1950" b="0">
                <a:solidFill>
                  <a:srgbClr val="8C8C8C"/>
                </a:solidFill>
              </a:defRPr>
            </a:lvl5pPr>
            <a:lvl6pPr algn="l">
              <a:buNone/>
              <a:defRPr sz="1950" b="0">
                <a:solidFill>
                  <a:srgbClr val="8C8C8C"/>
                </a:solidFill>
              </a:defRPr>
            </a:lvl6pPr>
            <a:lvl7pPr algn="l">
              <a:buNone/>
              <a:defRPr sz="1950" b="0">
                <a:solidFill>
                  <a:srgbClr val="8C8C8C"/>
                </a:solidFill>
              </a:defRPr>
            </a:lvl7pPr>
            <a:lvl8pPr algn="l">
              <a:buNone/>
              <a:defRPr sz="1950" b="0">
                <a:solidFill>
                  <a:srgbClr val="8C8C8C"/>
                </a:solidFill>
              </a:defRPr>
            </a:lvl8pPr>
            <a:lvl9pPr algn="l">
              <a:buNone/>
              <a:defRPr sz="1950" b="0">
                <a:solidFill>
                  <a:srgbClr val="8C8C8C"/>
                </a:solidFill>
              </a:defRPr>
            </a:lvl9pPr>
          </a:lstStyle>
          <a:p>
            <a:pPr algn="l">
              <a:buNone/>
              <a:defRPr sz="1950" b="0">
                <a:solidFill>
                  <a:srgbClr val="8C8C8C"/>
                </a:solidFill>
              </a:defRPr>
            </a:pPr>
            <a:r>
              <a:rPr sz="1950" b="0">
                <a:solidFill>
                  <a:schemeClr val="tx1"/>
                </a:solidFill>
              </a:rPr>
              <a:t>•  Control: music mix, intensity, brightness, density and tempo</a:t>
            </a:r>
          </a:p>
        </p:txBody>
      </p:sp>
      <p:sp>
        <p:nvSpPr>
          <p:cNvPr id="6" name="bullet-4">
            <a:extLst>
              <a:ext uri="{FF2B5EF4-FFF2-40B4-BE49-F238E27FC236}">
                <a16:creationId xmlns:a16="http://schemas.microsoft.com/office/drawing/2014/main" id="{4D503F13-4253-4DAF-BBEF-30D17B1220FB}"/>
              </a:ext>
            </a:extLst>
          </p:cNvPr>
          <p:cNvSpPr>
            <a:spLocks noGrp="1"/>
          </p:cNvSpPr>
          <p:nvPr/>
        </p:nvSpPr>
        <p:spPr>
          <a:xfrm>
            <a:off x="714375" y="4476750"/>
            <a:ext cx="106680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1950" b="0">
                <a:solidFill>
                  <a:srgbClr val="8C8C8C"/>
                </a:solidFill>
              </a:defRPr>
            </a:lvl1pPr>
            <a:lvl2pPr algn="l">
              <a:buNone/>
              <a:defRPr sz="1950" b="0">
                <a:solidFill>
                  <a:srgbClr val="8C8C8C"/>
                </a:solidFill>
              </a:defRPr>
            </a:lvl2pPr>
            <a:lvl3pPr algn="l">
              <a:buNone/>
              <a:defRPr sz="1950" b="0">
                <a:solidFill>
                  <a:srgbClr val="8C8C8C"/>
                </a:solidFill>
              </a:defRPr>
            </a:lvl3pPr>
            <a:lvl4pPr algn="l">
              <a:buNone/>
              <a:defRPr sz="1950" b="0">
                <a:solidFill>
                  <a:srgbClr val="8C8C8C"/>
                </a:solidFill>
              </a:defRPr>
            </a:lvl4pPr>
            <a:lvl5pPr algn="l">
              <a:buNone/>
              <a:defRPr sz="1950" b="0">
                <a:solidFill>
                  <a:srgbClr val="8C8C8C"/>
                </a:solidFill>
              </a:defRPr>
            </a:lvl5pPr>
            <a:lvl6pPr algn="l">
              <a:buNone/>
              <a:defRPr sz="1950" b="0">
                <a:solidFill>
                  <a:srgbClr val="8C8C8C"/>
                </a:solidFill>
              </a:defRPr>
            </a:lvl6pPr>
            <a:lvl7pPr algn="l">
              <a:buNone/>
              <a:defRPr sz="1950" b="0">
                <a:solidFill>
                  <a:srgbClr val="8C8C8C"/>
                </a:solidFill>
              </a:defRPr>
            </a:lvl7pPr>
            <a:lvl8pPr algn="l">
              <a:buNone/>
              <a:defRPr sz="1950" b="0">
                <a:solidFill>
                  <a:srgbClr val="8C8C8C"/>
                </a:solidFill>
              </a:defRPr>
            </a:lvl8pPr>
            <a:lvl9pPr algn="l">
              <a:buNone/>
              <a:defRPr sz="1950" b="0">
                <a:solidFill>
                  <a:srgbClr val="8C8C8C"/>
                </a:solidFill>
              </a:defRPr>
            </a:lvl9pPr>
          </a:lstStyle>
          <a:p>
            <a:pPr algn="l">
              <a:buNone/>
              <a:defRPr sz="1950" b="0">
                <a:solidFill>
                  <a:srgbClr val="8C8C8C"/>
                </a:solidFill>
              </a:defRPr>
            </a:pPr>
            <a:r>
              <a:rPr sz="1950" b="0">
                <a:solidFill>
                  <a:schemeClr val="tx1"/>
                </a:solidFill>
              </a:rPr>
              <a:t>•  Method: LinUCB learns from valid outcomes; static and rule modes are baselines</a:t>
            </a:r>
          </a:p>
        </p:txBody>
      </p:sp>
      <p:sp>
        <p:nvSpPr>
          <p:cNvPr id="7" name="bullet-5">
            <a:extLst>
              <a:ext uri="{FF2B5EF4-FFF2-40B4-BE49-F238E27FC236}">
                <a16:creationId xmlns:a16="http://schemas.microsoft.com/office/drawing/2014/main" id="{6E46A620-32FF-4DF5-802D-757DC2B2ECD8}"/>
              </a:ext>
            </a:extLst>
          </p:cNvPr>
          <p:cNvSpPr>
            <a:spLocks noGrp="1"/>
          </p:cNvSpPr>
          <p:nvPr/>
        </p:nvSpPr>
        <p:spPr>
          <a:xfrm>
            <a:off x="714375" y="5143500"/>
            <a:ext cx="106680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1950" b="0">
                <a:solidFill>
                  <a:srgbClr val="8C8C8C"/>
                </a:solidFill>
              </a:defRPr>
            </a:lvl1pPr>
            <a:lvl2pPr algn="l">
              <a:buNone/>
              <a:defRPr sz="1950" b="0">
                <a:solidFill>
                  <a:srgbClr val="8C8C8C"/>
                </a:solidFill>
              </a:defRPr>
            </a:lvl2pPr>
            <a:lvl3pPr algn="l">
              <a:buNone/>
              <a:defRPr sz="1950" b="0">
                <a:solidFill>
                  <a:srgbClr val="8C8C8C"/>
                </a:solidFill>
              </a:defRPr>
            </a:lvl3pPr>
            <a:lvl4pPr algn="l">
              <a:buNone/>
              <a:defRPr sz="1950" b="0">
                <a:solidFill>
                  <a:srgbClr val="8C8C8C"/>
                </a:solidFill>
              </a:defRPr>
            </a:lvl4pPr>
            <a:lvl5pPr algn="l">
              <a:buNone/>
              <a:defRPr sz="1950" b="0">
                <a:solidFill>
                  <a:srgbClr val="8C8C8C"/>
                </a:solidFill>
              </a:defRPr>
            </a:lvl5pPr>
            <a:lvl6pPr algn="l">
              <a:buNone/>
              <a:defRPr sz="1950" b="0">
                <a:solidFill>
                  <a:srgbClr val="8C8C8C"/>
                </a:solidFill>
              </a:defRPr>
            </a:lvl6pPr>
            <a:lvl7pPr algn="l">
              <a:buNone/>
              <a:defRPr sz="1950" b="0">
                <a:solidFill>
                  <a:srgbClr val="8C8C8C"/>
                </a:solidFill>
              </a:defRPr>
            </a:lvl7pPr>
            <a:lvl8pPr algn="l">
              <a:buNone/>
              <a:defRPr sz="1950" b="0">
                <a:solidFill>
                  <a:srgbClr val="8C8C8C"/>
                </a:solidFill>
              </a:defRPr>
            </a:lvl8pPr>
            <a:lvl9pPr algn="l">
              <a:buNone/>
              <a:defRPr sz="1950" b="0">
                <a:solidFill>
                  <a:srgbClr val="8C8C8C"/>
                </a:solidFill>
              </a:defRPr>
            </a:lvl9pPr>
          </a:lstStyle>
          <a:p>
            <a:pPr algn="l">
              <a:buNone/>
              <a:defRPr sz="1950" b="0">
                <a:solidFill>
                  <a:srgbClr val="8C8C8C"/>
                </a:solidFill>
              </a:defRPr>
            </a:pPr>
            <a:r>
              <a:rPr sz="1950" b="0">
                <a:solidFill>
                  <a:schemeClr val="tx1"/>
                </a:solidFill>
              </a:rPr>
              <a:t>•  Safety: shared turns separate audio and visual effects; headset testing pending</a:t>
            </a:r>
          </a:p>
        </p:txBody>
      </p:sp>
      <p:sp>
        <p:nvSpPr>
          <p:cNvPr id="8" name="student-footer">
            <a:extLst>
              <a:ext uri="{FF2B5EF4-FFF2-40B4-BE49-F238E27FC236}">
                <a16:creationId xmlns:a16="http://schemas.microsoft.com/office/drawing/2014/main" id="{BB62DCD7-BA50-4028-8EC6-9BF924DE2F63}"/>
              </a:ext>
            </a:extLst>
          </p:cNvPr>
          <p:cNvSpPr>
            <a:spLocks noGrp="1"/>
          </p:cNvSpPr>
          <p:nvPr/>
        </p:nvSpPr>
        <p:spPr>
          <a:xfrm>
            <a:off x="2628900" y="6477000"/>
            <a:ext cx="685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1725" b="0">
                <a:solidFill>
                  <a:srgbClr val="000000"/>
                </a:solidFill>
              </a:defRPr>
            </a:lvl1pPr>
            <a:lvl2pPr algn="l">
              <a:buNone/>
              <a:defRPr sz="1725" b="0">
                <a:solidFill>
                  <a:srgbClr val="000000"/>
                </a:solidFill>
              </a:defRPr>
            </a:lvl2pPr>
            <a:lvl3pPr algn="l">
              <a:buNone/>
              <a:defRPr sz="1725" b="0">
                <a:solidFill>
                  <a:srgbClr val="000000"/>
                </a:solidFill>
              </a:defRPr>
            </a:lvl3pPr>
            <a:lvl4pPr algn="l">
              <a:buNone/>
              <a:defRPr sz="1725" b="0">
                <a:solidFill>
                  <a:srgbClr val="000000"/>
                </a:solidFill>
              </a:defRPr>
            </a:lvl4pPr>
            <a:lvl5pPr algn="l">
              <a:buNone/>
              <a:defRPr sz="1725" b="0">
                <a:solidFill>
                  <a:srgbClr val="000000"/>
                </a:solidFill>
              </a:defRPr>
            </a:lvl5pPr>
            <a:lvl6pPr algn="l">
              <a:buNone/>
              <a:defRPr sz="1725" b="0">
                <a:solidFill>
                  <a:srgbClr val="000000"/>
                </a:solidFill>
              </a:defRPr>
            </a:lvl6pPr>
            <a:lvl7pPr algn="l">
              <a:buNone/>
              <a:defRPr sz="1725" b="0">
                <a:solidFill>
                  <a:srgbClr val="000000"/>
                </a:solidFill>
              </a:defRPr>
            </a:lvl7pPr>
            <a:lvl8pPr algn="l">
              <a:buNone/>
              <a:defRPr sz="1725" b="0">
                <a:solidFill>
                  <a:srgbClr val="000000"/>
                </a:solidFill>
              </a:defRPr>
            </a:lvl8pPr>
            <a:lvl9pPr algn="l">
              <a:buNone/>
              <a:defRPr sz="1725" b="0">
                <a:solidFill>
                  <a:srgbClr val="000000"/>
                </a:solidFill>
              </a:defRPr>
            </a:lvl9pPr>
          </a:lstStyle>
          <a:p>
            <a:pPr algn="l">
              <a:buNone/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IT22172396   |   Samarasekara K.S.M.   |   R26-DS-006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C431E46-07D4-8DC3-8433-103E7F1B77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5010" y="142875"/>
            <a:ext cx="2357438" cy="3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41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2BE3DA2-993F-60A4-0890-9B3C6AE70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810" y="179218"/>
            <a:ext cx="9043987" cy="1538287"/>
          </a:xfrm>
        </p:spPr>
        <p:txBody>
          <a:bodyPr/>
          <a:lstStyle/>
          <a:p>
            <a:r>
              <a:rPr>
                <a:latin typeface="Adobe Devanagari"/>
                <a:ea typeface="Adobe Devanagari"/>
                <a:cs typeface="Adobe Devanagari"/>
              </a:rPr>
              <a:t>IT22621788 | PRATHIKESH 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A159CBD-06DD-9AB3-32CE-36FFF559B0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715945"/>
            <a:ext cx="10182225" cy="5500443"/>
          </a:xfrm>
        </p:spPr>
        <p:txBody>
          <a:bodyPr vert="horz" lIns="91440" tIns="45720" rIns="91440" bIns="45720" anchor="b">
            <a:noAutofit/>
          </a:bodyPr>
          <a:lstStyle/>
          <a:p>
            <a:endParaRPr sz="2400">
              <a:solidFill>
                <a:schemeClr val="tx1"/>
              </a:solidFill>
            </a:endParaRPr>
          </a:p>
          <a:p>
            <a:pPr marL="285750" indent="-285750">
              <a:buChar char="•"/>
            </a:pPr>
            <a:r>
              <a:rPr sz="1800" b="1">
                <a:solidFill>
                  <a:schemeClr val="tx1"/>
                </a:solidFill>
              </a:rPr>
              <a:t>Input:</a:t>
            </a:r>
            <a:r>
              <a:rPr sz="1800">
                <a:solidFill>
                  <a:schemeClr val="tx1"/>
                </a:solidFill>
              </a:rPr>
              <a:t> A short voice clip from the mobile app, recorded before and after the VR session, cleaned by a shared preprocessing stage (16 kHz, high-pass, loudness-normalised)</a:t>
            </a:r>
          </a:p>
          <a:p>
            <a:pPr marL="285750" indent="-285750">
              <a:buChar char="•"/>
            </a:pPr>
            <a:r>
              <a:rPr sz="1800" b="1">
                <a:solidFill>
                  <a:schemeClr val="tx1"/>
                </a:solidFill>
              </a:rPr>
              <a:t>Output:</a:t>
            </a:r>
            <a:r>
              <a:rPr sz="1800">
                <a:solidFill>
                  <a:schemeClr val="tx1"/>
                </a:solidFill>
              </a:rPr>
              <a:t> A 0–10 stress score with a confidence value and one of four levels (low/mild/moderate/ high), sent live to the VR environment and the mobile app</a:t>
            </a:r>
          </a:p>
          <a:p>
            <a:pPr marL="285750" indent="-285750">
              <a:buChar char="•"/>
            </a:pPr>
            <a:r>
              <a:rPr sz="1800" b="1">
                <a:solidFill>
                  <a:schemeClr val="tx1"/>
                </a:solidFill>
              </a:rPr>
              <a:t>Model:</a:t>
            </a:r>
            <a:r>
              <a:rPr sz="1800">
                <a:solidFill>
                  <a:schemeClr val="tx1"/>
                </a:solidFill>
              </a:rPr>
              <a:t> frozen emotion2vec encoder (selected from a 6-model ablation) + an engineered 21-feature prosody branch → </a:t>
            </a:r>
            <a:r>
              <a:rPr sz="1800" b="1">
                <a:solidFill>
                  <a:schemeClr val="tx1"/>
                </a:solidFill>
              </a:rPr>
              <a:t>gated fusion</a:t>
            </a:r>
            <a:r>
              <a:rPr sz="1800">
                <a:solidFill>
                  <a:schemeClr val="tx1"/>
                </a:solidFill>
              </a:rPr>
              <a:t> + a learned valence/arousal head (1–2M trained parameters)</a:t>
            </a:r>
          </a:p>
          <a:p>
            <a:pPr marL="285750" indent="-285750">
              <a:buChar char="•"/>
            </a:pPr>
            <a:r>
              <a:rPr sz="1800" b="1">
                <a:solidFill>
                  <a:schemeClr val="tx1"/>
                </a:solidFill>
              </a:rPr>
              <a:t>Research finding:</a:t>
            </a:r>
            <a:r>
              <a:rPr sz="1800">
                <a:solidFill>
                  <a:schemeClr val="tx1"/>
                </a:solidFill>
              </a:rPr>
              <a:t> On real voices the standard way of choosing a model </a:t>
            </a:r>
            <a:r>
              <a:rPr sz="1800" b="1">
                <a:solidFill>
                  <a:schemeClr val="tx1"/>
                </a:solidFill>
              </a:rPr>
              <a:t>inverts</a:t>
            </a:r>
            <a:r>
              <a:rPr sz="1800">
                <a:solidFill>
                  <a:schemeClr val="tx1"/>
                </a:solidFill>
              </a:rPr>
              <a:t> — </a:t>
            </a:r>
            <a:r>
              <a:rPr sz="1800" b="1">
                <a:solidFill>
                  <a:schemeClr val="tx1"/>
                </a:solidFill>
              </a:rPr>
              <a:t>valence transfers (82–100%), arousal collapses (12–53%)</a:t>
            </a:r>
            <a:r>
              <a:rPr sz="1800">
                <a:solidFill>
                  <a:schemeClr val="tx1"/>
                </a:solidFill>
              </a:rPr>
              <a:t>, so stress is scored from valence alone (Spearman ρ = −0.60)</a:t>
            </a:r>
          </a:p>
          <a:p>
            <a:pPr marL="285750" indent="-285750">
              <a:buChar char="•"/>
            </a:pPr>
            <a:r>
              <a:rPr sz="1800" b="1">
                <a:solidFill>
                  <a:schemeClr val="tx1"/>
                </a:solidFill>
              </a:rPr>
              <a:t>Deployment finding:</a:t>
            </a:r>
            <a:r>
              <a:rPr sz="1800">
                <a:solidFill>
                  <a:schemeClr val="tx1"/>
                </a:solidFill>
              </a:rPr>
              <a:t> a 5-layer pipeline where </a:t>
            </a:r>
            <a:r>
              <a:rPr sz="1800" b="1">
                <a:solidFill>
                  <a:schemeClr val="tx1"/>
                </a:solidFill>
              </a:rPr>
              <a:t>one layer measures and four protect</a:t>
            </a:r>
            <a:r>
              <a:rPr sz="1800">
                <a:solidFill>
                  <a:schemeClr val="tx1"/>
                </a:solidFill>
              </a:rPr>
              <a:t> — a quality gate, pre/post comparison, cross-modal check against Component B's HRV, and per-person anomaly detection.</a:t>
            </a:r>
          </a:p>
          <a:p>
            <a:pPr marL="285750" indent="-285750">
              <a:buChar char="•"/>
            </a:pPr>
            <a:r>
              <a:rPr sz="1800" b="1">
                <a:solidFill>
                  <a:schemeClr val="tx1"/>
                </a:solidFill>
              </a:rPr>
              <a:t>Result:</a:t>
            </a:r>
            <a:r>
              <a:rPr sz="1800">
                <a:solidFill>
                  <a:schemeClr val="tx1"/>
                </a:solidFill>
              </a:rPr>
              <a:t> </a:t>
            </a:r>
            <a:r>
              <a:rPr sz="1800" b="1">
                <a:solidFill>
                  <a:schemeClr val="tx1"/>
                </a:solidFill>
              </a:rPr>
              <a:t>macro accuracy 84.7%</a:t>
            </a:r>
            <a:r>
              <a:rPr sz="1800">
                <a:solidFill>
                  <a:schemeClr val="tx1"/>
                </a:solidFill>
              </a:rPr>
              <a:t> leave-one-out ; passes the </a:t>
            </a:r>
            <a:r>
              <a:rPr sz="1800" b="1">
                <a:solidFill>
                  <a:schemeClr val="tx1"/>
                </a:solidFill>
              </a:rPr>
              <a:t>75% KPI</a:t>
            </a:r>
            <a:r>
              <a:rPr sz="1800">
                <a:solidFill>
                  <a:schemeClr val="tx1"/>
                </a:solidFill>
              </a:rPr>
              <a:t> in both languages; real-time per clip</a:t>
            </a:r>
            <a:endParaRPr>
              <a:solidFill>
                <a:schemeClr val="tx1"/>
              </a:solidFill>
            </a:endParaRPr>
          </a:p>
          <a:p>
            <a:endParaRPr/>
          </a:p>
          <a:p>
            <a:endParaRPr>
              <a:solidFill>
                <a:srgbClr val="898989"/>
              </a:solidFill>
            </a:endParaRPr>
          </a:p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AD99FD-5E6C-59C8-3276-35FD9F659F0C}"/>
              </a:ext>
            </a:extLst>
          </p:cNvPr>
          <p:cNvSpPr>
            <a:spLocks noGrp="1"/>
          </p:cNvSpPr>
          <p:nvPr/>
        </p:nvSpPr>
        <p:spPr>
          <a:xfrm>
            <a:off x="2627875" y="6511536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r>
              <a:rPr b="1">
                <a:solidFill>
                  <a:schemeClr val="tx1"/>
                </a:solidFill>
              </a:rPr>
              <a:t>IT22621788</a:t>
            </a:r>
            <a:r>
              <a:rPr sz="1800">
                <a:solidFill>
                  <a:schemeClr val="tx1"/>
                </a:solidFill>
              </a:rPr>
              <a:t>|   </a:t>
            </a:r>
            <a:r>
              <a:rPr b="1">
                <a:solidFill>
                  <a:schemeClr val="tx1"/>
                </a:solidFill>
              </a:rPr>
              <a:t>Prathikesh S   </a:t>
            </a:r>
            <a:r>
              <a:rPr sz="1800">
                <a:solidFill>
                  <a:schemeClr val="tx1"/>
                </a:solidFill>
              </a:rPr>
              <a:t>|   </a:t>
            </a:r>
            <a:r>
              <a:rPr>
                <a:solidFill>
                  <a:schemeClr val="tx1"/>
                </a:solidFill>
              </a:rPr>
              <a:t>R26-DS-006</a:t>
            </a:r>
            <a:endParaRPr sz="1800" b="0">
              <a:solidFill>
                <a:schemeClr val="tx1"/>
              </a:solidFill>
            </a:endParaRPr>
          </a:p>
        </p:txBody>
      </p:sp>
      <p:pic>
        <p:nvPicPr>
          <p:cNvPr id="20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1037" y="110048"/>
            <a:ext cx="2076846" cy="233878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EAA1CE6-7A17-2359-05D9-8639CACFD741}"/>
              </a:ext>
            </a:extLst>
          </p:cNvPr>
          <p:cNvSpPr>
            <a:spLocks noGrp="1"/>
          </p:cNvSpPr>
          <p:nvPr/>
        </p:nvSpPr>
        <p:spPr>
          <a:xfrm>
            <a:off x="323736" y="784055"/>
            <a:ext cx="9005889" cy="110799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2400" b="1"/>
              <a:t>Voice-Based Multilingual Stress Assessment with </a:t>
            </a:r>
            <a:endParaRPr sz="2400"/>
          </a:p>
          <a:p>
            <a:r>
              <a:rPr sz="2400" b="1"/>
              <a:t>Cross-Modal Session Validation</a:t>
            </a:r>
            <a:endParaRPr sz="2400"/>
          </a:p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33074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losing-title">
            <a:extLst>
              <a:ext uri="{FF2B5EF4-FFF2-40B4-BE49-F238E27FC236}">
                <a16:creationId xmlns:a16="http://schemas.microsoft.com/office/drawing/2014/main" id="{34D7064C-DD6C-4C8A-941D-B7FA295C6BD4}"/>
              </a:ext>
            </a:extLst>
          </p:cNvPr>
          <p:cNvSpPr>
            <a:spLocks noGrp="1"/>
          </p:cNvSpPr>
          <p:nvPr/>
        </p:nvSpPr>
        <p:spPr>
          <a:xfrm>
            <a:off x="809625" y="733425"/>
            <a:ext cx="10382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3675" b="0">
                <a:solidFill>
                  <a:srgbClr val="000000"/>
                </a:solidFill>
              </a:defRPr>
            </a:lvl1pPr>
            <a:lvl2pPr algn="l">
              <a:buNone/>
              <a:defRPr sz="3675" b="0">
                <a:solidFill>
                  <a:srgbClr val="000000"/>
                </a:solidFill>
              </a:defRPr>
            </a:lvl2pPr>
            <a:lvl3pPr algn="l">
              <a:buNone/>
              <a:defRPr sz="3675" b="0">
                <a:solidFill>
                  <a:srgbClr val="000000"/>
                </a:solidFill>
              </a:defRPr>
            </a:lvl3pPr>
            <a:lvl4pPr algn="l">
              <a:buNone/>
              <a:defRPr sz="3675" b="0">
                <a:solidFill>
                  <a:srgbClr val="000000"/>
                </a:solidFill>
              </a:defRPr>
            </a:lvl4pPr>
            <a:lvl5pPr algn="l">
              <a:buNone/>
              <a:defRPr sz="3675" b="0">
                <a:solidFill>
                  <a:srgbClr val="000000"/>
                </a:solidFill>
              </a:defRPr>
            </a:lvl5pPr>
            <a:lvl6pPr algn="l">
              <a:buNone/>
              <a:defRPr sz="3675" b="0">
                <a:solidFill>
                  <a:srgbClr val="000000"/>
                </a:solidFill>
              </a:defRPr>
            </a:lvl6pPr>
            <a:lvl7pPr algn="l">
              <a:buNone/>
              <a:defRPr sz="3675" b="0">
                <a:solidFill>
                  <a:srgbClr val="000000"/>
                </a:solidFill>
              </a:defRPr>
            </a:lvl7pPr>
            <a:lvl8pPr algn="l">
              <a:buNone/>
              <a:defRPr sz="3675" b="0">
                <a:solidFill>
                  <a:srgbClr val="000000"/>
                </a:solidFill>
              </a:defRPr>
            </a:lvl8pPr>
            <a:lvl9pPr algn="l">
              <a:buNone/>
              <a:defRPr sz="3675" b="0">
                <a:solidFill>
                  <a:srgbClr val="000000"/>
                </a:solidFill>
              </a:defRPr>
            </a:lvl9pPr>
          </a:lstStyle>
          <a:p>
            <a:pPr algn="l">
              <a:buNone/>
              <a:defRPr sz="3675" b="0">
                <a:solidFill>
                  <a:srgbClr val="000000"/>
                </a:solidFill>
              </a:defRPr>
            </a:pPr>
            <a:r>
              <a:rPr sz="3675" b="0">
                <a:solidFill>
                  <a:srgbClr val="000000"/>
                </a:solidFill>
              </a:rPr>
              <a:t>Results and next steps</a:t>
            </a:r>
          </a:p>
        </p:txBody>
      </p:sp>
      <p:sp>
        <p:nvSpPr>
          <p:cNvPr id="2" name="bullet-1">
            <a:extLst>
              <a:ext uri="{FF2B5EF4-FFF2-40B4-BE49-F238E27FC236}">
                <a16:creationId xmlns:a16="http://schemas.microsoft.com/office/drawing/2014/main" id="{543B1D42-AE93-43D8-9F5A-EEA927A5C7D4}"/>
              </a:ext>
            </a:extLst>
          </p:cNvPr>
          <p:cNvSpPr>
            <a:spLocks noGrp="1"/>
          </p:cNvSpPr>
          <p:nvPr/>
        </p:nvSpPr>
        <p:spPr>
          <a:xfrm>
            <a:off x="714375" y="2000250"/>
            <a:ext cx="10572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2250" b="0">
                <a:solidFill>
                  <a:srgbClr val="8C8C8C"/>
                </a:solidFill>
              </a:defRPr>
            </a:lvl1pPr>
            <a:lvl2pPr algn="l">
              <a:buNone/>
              <a:defRPr sz="2250" b="0">
                <a:solidFill>
                  <a:srgbClr val="8C8C8C"/>
                </a:solidFill>
              </a:defRPr>
            </a:lvl2pPr>
            <a:lvl3pPr algn="l">
              <a:buNone/>
              <a:defRPr sz="2250" b="0">
                <a:solidFill>
                  <a:srgbClr val="8C8C8C"/>
                </a:solidFill>
              </a:defRPr>
            </a:lvl3pPr>
            <a:lvl4pPr algn="l">
              <a:buNone/>
              <a:defRPr sz="2250" b="0">
                <a:solidFill>
                  <a:srgbClr val="8C8C8C"/>
                </a:solidFill>
              </a:defRPr>
            </a:lvl4pPr>
            <a:lvl5pPr algn="l">
              <a:buNone/>
              <a:defRPr sz="2250" b="0">
                <a:solidFill>
                  <a:srgbClr val="8C8C8C"/>
                </a:solidFill>
              </a:defRPr>
            </a:lvl5pPr>
            <a:lvl6pPr algn="l">
              <a:buNone/>
              <a:defRPr sz="2250" b="0">
                <a:solidFill>
                  <a:srgbClr val="8C8C8C"/>
                </a:solidFill>
              </a:defRPr>
            </a:lvl6pPr>
            <a:lvl7pPr algn="l">
              <a:buNone/>
              <a:defRPr sz="2250" b="0">
                <a:solidFill>
                  <a:srgbClr val="8C8C8C"/>
                </a:solidFill>
              </a:defRPr>
            </a:lvl7pPr>
            <a:lvl8pPr algn="l">
              <a:buNone/>
              <a:defRPr sz="2250" b="0">
                <a:solidFill>
                  <a:srgbClr val="8C8C8C"/>
                </a:solidFill>
              </a:defRPr>
            </a:lvl8pPr>
            <a:lvl9pPr algn="l">
              <a:buNone/>
              <a:defRPr sz="2250" b="0">
                <a:solidFill>
                  <a:srgbClr val="8C8C8C"/>
                </a:solidFill>
              </a:defRPr>
            </a:lvl9pPr>
          </a:lstStyle>
          <a:p>
            <a:pPr algn="l">
              <a:buNone/>
              <a:defRPr sz="2250" b="0">
                <a:solidFill>
                  <a:srgbClr val="8C8C8C"/>
                </a:solidFill>
              </a:defRPr>
            </a:pPr>
            <a:r>
              <a:rPr sz="2250" b="0" dirty="0">
                <a:solidFill>
                  <a:schemeClr val="tx1"/>
                </a:solidFill>
              </a:rPr>
              <a:t>•  </a:t>
            </a:r>
            <a:r>
              <a:rPr lang="en-US" sz="2250" b="0" dirty="0">
                <a:solidFill>
                  <a:schemeClr val="tx1"/>
                </a:solidFill>
              </a:rPr>
              <a:t>Stress inference</a:t>
            </a:r>
            <a:r>
              <a:rPr sz="2250" b="0" dirty="0">
                <a:solidFill>
                  <a:schemeClr val="tx1"/>
                </a:solidFill>
              </a:rPr>
              <a:t> model: 0.59 macro-F1 on unseen users</a:t>
            </a:r>
          </a:p>
        </p:txBody>
      </p:sp>
      <p:sp>
        <p:nvSpPr>
          <p:cNvPr id="3" name="bullet-2">
            <a:extLst>
              <a:ext uri="{FF2B5EF4-FFF2-40B4-BE49-F238E27FC236}">
                <a16:creationId xmlns:a16="http://schemas.microsoft.com/office/drawing/2014/main" id="{A8AA04A7-DE1B-4287-B36A-843DE99212B7}"/>
              </a:ext>
            </a:extLst>
          </p:cNvPr>
          <p:cNvSpPr>
            <a:spLocks noGrp="1"/>
          </p:cNvSpPr>
          <p:nvPr/>
        </p:nvSpPr>
        <p:spPr>
          <a:xfrm>
            <a:off x="714375" y="2752725"/>
            <a:ext cx="10572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2250" b="0">
                <a:solidFill>
                  <a:srgbClr val="8C8C8C"/>
                </a:solidFill>
              </a:defRPr>
            </a:lvl1pPr>
            <a:lvl2pPr algn="l">
              <a:buNone/>
              <a:defRPr sz="2250" b="0">
                <a:solidFill>
                  <a:srgbClr val="8C8C8C"/>
                </a:solidFill>
              </a:defRPr>
            </a:lvl2pPr>
            <a:lvl3pPr algn="l">
              <a:buNone/>
              <a:defRPr sz="2250" b="0">
                <a:solidFill>
                  <a:srgbClr val="8C8C8C"/>
                </a:solidFill>
              </a:defRPr>
            </a:lvl3pPr>
            <a:lvl4pPr algn="l">
              <a:buNone/>
              <a:defRPr sz="2250" b="0">
                <a:solidFill>
                  <a:srgbClr val="8C8C8C"/>
                </a:solidFill>
              </a:defRPr>
            </a:lvl4pPr>
            <a:lvl5pPr algn="l">
              <a:buNone/>
              <a:defRPr sz="2250" b="0">
                <a:solidFill>
                  <a:srgbClr val="8C8C8C"/>
                </a:solidFill>
              </a:defRPr>
            </a:lvl5pPr>
            <a:lvl6pPr algn="l">
              <a:buNone/>
              <a:defRPr sz="2250" b="0">
                <a:solidFill>
                  <a:srgbClr val="8C8C8C"/>
                </a:solidFill>
              </a:defRPr>
            </a:lvl6pPr>
            <a:lvl7pPr algn="l">
              <a:buNone/>
              <a:defRPr sz="2250" b="0">
                <a:solidFill>
                  <a:srgbClr val="8C8C8C"/>
                </a:solidFill>
              </a:defRPr>
            </a:lvl7pPr>
            <a:lvl8pPr algn="l">
              <a:buNone/>
              <a:defRPr sz="2250" b="0">
                <a:solidFill>
                  <a:srgbClr val="8C8C8C"/>
                </a:solidFill>
              </a:defRPr>
            </a:lvl8pPr>
            <a:lvl9pPr algn="l">
              <a:buNone/>
              <a:defRPr sz="2250" b="0">
                <a:solidFill>
                  <a:srgbClr val="8C8C8C"/>
                </a:solidFill>
              </a:defRPr>
            </a:lvl9pPr>
          </a:lstStyle>
          <a:p>
            <a:pPr algn="l">
              <a:buNone/>
              <a:defRPr sz="2250" b="0">
                <a:solidFill>
                  <a:srgbClr val="8C8C8C"/>
                </a:solidFill>
              </a:defRPr>
            </a:pPr>
            <a:r>
              <a:rPr sz="2250" b="0" dirty="0">
                <a:solidFill>
                  <a:schemeClr val="tx1"/>
                </a:solidFill>
              </a:rPr>
              <a:t>•  Voice validation: 84.7% leave-one-out accuracy</a:t>
            </a:r>
          </a:p>
        </p:txBody>
      </p:sp>
      <p:sp>
        <p:nvSpPr>
          <p:cNvPr id="4" name="bullet-3">
            <a:extLst>
              <a:ext uri="{FF2B5EF4-FFF2-40B4-BE49-F238E27FC236}">
                <a16:creationId xmlns:a16="http://schemas.microsoft.com/office/drawing/2014/main" id="{915354EA-C45C-44A6-8FE3-84AC68FC45C0}"/>
              </a:ext>
            </a:extLst>
          </p:cNvPr>
          <p:cNvSpPr>
            <a:spLocks noGrp="1"/>
          </p:cNvSpPr>
          <p:nvPr/>
        </p:nvSpPr>
        <p:spPr>
          <a:xfrm>
            <a:off x="714375" y="3505200"/>
            <a:ext cx="10572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2250" b="0">
                <a:solidFill>
                  <a:srgbClr val="8C8C8C"/>
                </a:solidFill>
              </a:defRPr>
            </a:lvl1pPr>
            <a:lvl2pPr algn="l">
              <a:buNone/>
              <a:defRPr sz="2250" b="0">
                <a:solidFill>
                  <a:srgbClr val="8C8C8C"/>
                </a:solidFill>
              </a:defRPr>
            </a:lvl2pPr>
            <a:lvl3pPr algn="l">
              <a:buNone/>
              <a:defRPr sz="2250" b="0">
                <a:solidFill>
                  <a:srgbClr val="8C8C8C"/>
                </a:solidFill>
              </a:defRPr>
            </a:lvl3pPr>
            <a:lvl4pPr algn="l">
              <a:buNone/>
              <a:defRPr sz="2250" b="0">
                <a:solidFill>
                  <a:srgbClr val="8C8C8C"/>
                </a:solidFill>
              </a:defRPr>
            </a:lvl4pPr>
            <a:lvl5pPr algn="l">
              <a:buNone/>
              <a:defRPr sz="2250" b="0">
                <a:solidFill>
                  <a:srgbClr val="8C8C8C"/>
                </a:solidFill>
              </a:defRPr>
            </a:lvl5pPr>
            <a:lvl6pPr algn="l">
              <a:buNone/>
              <a:defRPr sz="2250" b="0">
                <a:solidFill>
                  <a:srgbClr val="8C8C8C"/>
                </a:solidFill>
              </a:defRPr>
            </a:lvl6pPr>
            <a:lvl7pPr algn="l">
              <a:buNone/>
              <a:defRPr sz="2250" b="0">
                <a:solidFill>
                  <a:srgbClr val="8C8C8C"/>
                </a:solidFill>
              </a:defRPr>
            </a:lvl7pPr>
            <a:lvl8pPr algn="l">
              <a:buNone/>
              <a:defRPr sz="2250" b="0">
                <a:solidFill>
                  <a:srgbClr val="8C8C8C"/>
                </a:solidFill>
              </a:defRPr>
            </a:lvl8pPr>
            <a:lvl9pPr algn="l">
              <a:buNone/>
              <a:defRPr sz="2250" b="0">
                <a:solidFill>
                  <a:srgbClr val="8C8C8C"/>
                </a:solidFill>
              </a:defRPr>
            </a:lvl9pPr>
          </a:lstStyle>
          <a:p>
            <a:pPr algn="l">
              <a:buNone/>
              <a:defRPr sz="2250" b="0">
                <a:solidFill>
                  <a:srgbClr val="8C8C8C"/>
                </a:solidFill>
              </a:defRPr>
            </a:pPr>
            <a:r>
              <a:rPr sz="2250" b="0">
                <a:solidFill>
                  <a:schemeClr val="tx1"/>
                </a:solidFill>
              </a:rPr>
              <a:t>•  VR learning result: improved decisions only in synthetic carry-over tests</a:t>
            </a:r>
          </a:p>
        </p:txBody>
      </p:sp>
      <p:sp>
        <p:nvSpPr>
          <p:cNvPr id="5" name="bullet-4">
            <a:extLst>
              <a:ext uri="{FF2B5EF4-FFF2-40B4-BE49-F238E27FC236}">
                <a16:creationId xmlns:a16="http://schemas.microsoft.com/office/drawing/2014/main" id="{462E9717-D648-4584-B6EA-BFEC2DDB0B58}"/>
              </a:ext>
            </a:extLst>
          </p:cNvPr>
          <p:cNvSpPr>
            <a:spLocks noGrp="1"/>
          </p:cNvSpPr>
          <p:nvPr/>
        </p:nvSpPr>
        <p:spPr>
          <a:xfrm>
            <a:off x="714375" y="4257675"/>
            <a:ext cx="10572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2250" b="0">
                <a:solidFill>
                  <a:srgbClr val="8C8C8C"/>
                </a:solidFill>
              </a:defRPr>
            </a:lvl1pPr>
            <a:lvl2pPr algn="l">
              <a:buNone/>
              <a:defRPr sz="2250" b="0">
                <a:solidFill>
                  <a:srgbClr val="8C8C8C"/>
                </a:solidFill>
              </a:defRPr>
            </a:lvl2pPr>
            <a:lvl3pPr algn="l">
              <a:buNone/>
              <a:defRPr sz="2250" b="0">
                <a:solidFill>
                  <a:srgbClr val="8C8C8C"/>
                </a:solidFill>
              </a:defRPr>
            </a:lvl3pPr>
            <a:lvl4pPr algn="l">
              <a:buNone/>
              <a:defRPr sz="2250" b="0">
                <a:solidFill>
                  <a:srgbClr val="8C8C8C"/>
                </a:solidFill>
              </a:defRPr>
            </a:lvl4pPr>
            <a:lvl5pPr algn="l">
              <a:buNone/>
              <a:defRPr sz="2250" b="0">
                <a:solidFill>
                  <a:srgbClr val="8C8C8C"/>
                </a:solidFill>
              </a:defRPr>
            </a:lvl5pPr>
            <a:lvl6pPr algn="l">
              <a:buNone/>
              <a:defRPr sz="2250" b="0">
                <a:solidFill>
                  <a:srgbClr val="8C8C8C"/>
                </a:solidFill>
              </a:defRPr>
            </a:lvl6pPr>
            <a:lvl7pPr algn="l">
              <a:buNone/>
              <a:defRPr sz="2250" b="0">
                <a:solidFill>
                  <a:srgbClr val="8C8C8C"/>
                </a:solidFill>
              </a:defRPr>
            </a:lvl7pPr>
            <a:lvl8pPr algn="l">
              <a:buNone/>
              <a:defRPr sz="2250" b="0">
                <a:solidFill>
                  <a:srgbClr val="8C8C8C"/>
                </a:solidFill>
              </a:defRPr>
            </a:lvl8pPr>
            <a:lvl9pPr algn="l">
              <a:buNone/>
              <a:defRPr sz="2250" b="0">
                <a:solidFill>
                  <a:srgbClr val="8C8C8C"/>
                </a:solidFill>
              </a:defRPr>
            </a:lvl9pPr>
          </a:lstStyle>
          <a:p>
            <a:pPr algn="l">
              <a:buNone/>
              <a:defRPr sz="2250" b="0">
                <a:solidFill>
                  <a:srgbClr val="8C8C8C"/>
                </a:solidFill>
              </a:defRPr>
            </a:pPr>
            <a:r>
              <a:rPr sz="2250" b="0" dirty="0">
                <a:solidFill>
                  <a:schemeClr val="tx1"/>
                </a:solidFill>
              </a:rPr>
              <a:t>•  User acceptance and testimonials: </a:t>
            </a:r>
            <a:r>
              <a:rPr lang="en-US" dirty="0">
                <a:solidFill>
                  <a:schemeClr val="tx1"/>
                </a:solidFill>
              </a:rPr>
              <a:t>Obtained through a Google form during the real         user study</a:t>
            </a:r>
            <a:endParaRPr sz="2250" b="0" dirty="0">
              <a:solidFill>
                <a:schemeClr val="tx1"/>
              </a:solidFill>
            </a:endParaRPr>
          </a:p>
        </p:txBody>
      </p:sp>
      <p:sp>
        <p:nvSpPr>
          <p:cNvPr id="6" name="bullet-5">
            <a:extLst>
              <a:ext uri="{FF2B5EF4-FFF2-40B4-BE49-F238E27FC236}">
                <a16:creationId xmlns:a16="http://schemas.microsoft.com/office/drawing/2014/main" id="{90F8FB6C-E270-4FA9-91BB-C2C05F8FFDF8}"/>
              </a:ext>
            </a:extLst>
          </p:cNvPr>
          <p:cNvSpPr>
            <a:spLocks noGrp="1"/>
          </p:cNvSpPr>
          <p:nvPr/>
        </p:nvSpPr>
        <p:spPr>
          <a:xfrm>
            <a:off x="714375" y="5010150"/>
            <a:ext cx="10572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lvl1pPr algn="l">
              <a:buNone/>
              <a:defRPr sz="2250" b="0">
                <a:solidFill>
                  <a:srgbClr val="8C8C8C"/>
                </a:solidFill>
              </a:defRPr>
            </a:lvl1pPr>
            <a:lvl2pPr algn="l">
              <a:buNone/>
              <a:defRPr sz="2250" b="0">
                <a:solidFill>
                  <a:srgbClr val="8C8C8C"/>
                </a:solidFill>
              </a:defRPr>
            </a:lvl2pPr>
            <a:lvl3pPr algn="l">
              <a:buNone/>
              <a:defRPr sz="2250" b="0">
                <a:solidFill>
                  <a:srgbClr val="8C8C8C"/>
                </a:solidFill>
              </a:defRPr>
            </a:lvl3pPr>
            <a:lvl4pPr algn="l">
              <a:buNone/>
              <a:defRPr sz="2250" b="0">
                <a:solidFill>
                  <a:srgbClr val="8C8C8C"/>
                </a:solidFill>
              </a:defRPr>
            </a:lvl4pPr>
            <a:lvl5pPr algn="l">
              <a:buNone/>
              <a:defRPr sz="2250" b="0">
                <a:solidFill>
                  <a:srgbClr val="8C8C8C"/>
                </a:solidFill>
              </a:defRPr>
            </a:lvl5pPr>
            <a:lvl6pPr algn="l">
              <a:buNone/>
              <a:defRPr sz="2250" b="0">
                <a:solidFill>
                  <a:srgbClr val="8C8C8C"/>
                </a:solidFill>
              </a:defRPr>
            </a:lvl6pPr>
            <a:lvl7pPr algn="l">
              <a:buNone/>
              <a:defRPr sz="2250" b="0">
                <a:solidFill>
                  <a:srgbClr val="8C8C8C"/>
                </a:solidFill>
              </a:defRPr>
            </a:lvl7pPr>
            <a:lvl8pPr algn="l">
              <a:buNone/>
              <a:defRPr sz="2250" b="0">
                <a:solidFill>
                  <a:srgbClr val="8C8C8C"/>
                </a:solidFill>
              </a:defRPr>
            </a:lvl8pPr>
            <a:lvl9pPr algn="l">
              <a:buNone/>
              <a:defRPr sz="2250" b="0">
                <a:solidFill>
                  <a:srgbClr val="8C8C8C"/>
                </a:solidFill>
              </a:defRPr>
            </a:lvl9pPr>
          </a:lstStyle>
          <a:p>
            <a:pPr algn="l">
              <a:buNone/>
              <a:defRPr sz="2250" b="0">
                <a:solidFill>
                  <a:srgbClr val="8C8C8C"/>
                </a:solidFill>
              </a:defRPr>
            </a:pPr>
            <a:r>
              <a:rPr sz="2250" b="0" dirty="0">
                <a:solidFill>
                  <a:schemeClr val="tx1"/>
                </a:solidFill>
              </a:rPr>
              <a:t>•  </a:t>
            </a:r>
            <a:r>
              <a:rPr lang="en-US" dirty="0">
                <a:solidFill>
                  <a:schemeClr val="tx1"/>
                </a:solidFill>
              </a:rPr>
              <a:t>Future enhancements: Full scale real user study, Improve performance on Quest 2</a:t>
            </a:r>
            <a:endParaRPr sz="225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9694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glow rad="50800">
              <a:schemeClr val="phClr">
                <a:tint val="68000"/>
                <a:shade val="93000"/>
                <a:satMod val="250000"/>
                <a:alpha val="37000"/>
              </a:schemeClr>
            </a:glo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glow rad="50800">
              <a:schemeClr val="phClr">
                <a:tint val="68000"/>
                <a:shade val="93000"/>
                <a:satMod val="250000"/>
                <a:alpha val="37000"/>
              </a:schemeClr>
            </a:glo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938</Words>
  <Application>Microsoft Office PowerPoint</Application>
  <DocSecurity>0</DocSecurity>
  <PresentationFormat>Widescreen</PresentationFormat>
  <Paragraphs>65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Adobe Devanagari</vt:lpstr>
      <vt:lpstr>Arial</vt:lpstr>
      <vt:lpstr>Cambria</vt:lpstr>
      <vt:lpstr>Wingdings</vt:lpstr>
      <vt:lpstr>Office Theme</vt:lpstr>
      <vt:lpstr>AI-Based Adaptive VR Meditation System</vt:lpstr>
      <vt:lpstr>AI-Based Adaptive Meditation System</vt:lpstr>
      <vt:lpstr>IT22191038 | Perera B. d. P. D.</vt:lpstr>
      <vt:lpstr>PowerPoint Presentation</vt:lpstr>
      <vt:lpstr>PowerPoint Presentation</vt:lpstr>
      <vt:lpstr>IT22621788 | PRATHIKESH 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PERERA W.T.S.R it22231314</cp:lastModifiedBy>
  <cp:revision>1</cp:revision>
  <dcterms:created xsi:type="dcterms:W3CDTF">2026-10-20T02:52:01Z</dcterms:created>
  <dcterms:modified xsi:type="dcterms:W3CDTF">2026-10-20T04:07:11Z</dcterms:modified>
</cp:coreProperties>
</file>